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69" r:id="rId12"/>
    <p:sldId id="389" r:id="rId13"/>
    <p:sldId id="390" r:id="rId14"/>
    <p:sldId id="391" r:id="rId15"/>
    <p:sldId id="381" r:id="rId16"/>
    <p:sldId id="382" r:id="rId17"/>
    <p:sldId id="388" r:id="rId18"/>
    <p:sldId id="393" r:id="rId19"/>
    <p:sldId id="394" r:id="rId20"/>
    <p:sldId id="385" r:id="rId21"/>
    <p:sldId id="386" r:id="rId22"/>
    <p:sldId id="387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3" autoAdjust="0"/>
    <p:restoredTop sz="63108" autoAdjust="0"/>
  </p:normalViewPr>
  <p:slideViewPr>
    <p:cSldViewPr snapToGrid="0">
      <p:cViewPr varScale="1">
        <p:scale>
          <a:sx n="57" d="100"/>
          <a:sy n="57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老师，同学们，大家下午好。</a:t>
            </a:r>
          </a:p>
          <a:p>
            <a:r>
              <a:rPr lang="zh-CN" altLang="en-US" dirty="0"/>
              <a:t>我们是生物分离工程第十组，今天我们汇报的主题是“抗体药物偶联物（以下简称为</a:t>
            </a:r>
            <a:r>
              <a:rPr lang="en-US" altLang="zh-CN" dirty="0"/>
              <a:t>ADC</a:t>
            </a:r>
            <a:r>
              <a:rPr lang="zh-CN" altLang="en-US" dirty="0"/>
              <a:t>）的纯化” 。</a:t>
            </a:r>
            <a:endParaRPr lang="en-US" altLang="zh-CN" dirty="0"/>
          </a:p>
          <a:p>
            <a:r>
              <a:rPr lang="zh-CN" altLang="en-US" dirty="0"/>
              <a:t>我是本次的汇报人吕启蒙，此处是我们本次汇报的工作安排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018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我们的汇报将围绕这几个方面展开：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首先，我们会介绍</a:t>
            </a:r>
            <a:r>
              <a:rPr lang="en-US" altLang="zh-CN" dirty="0"/>
              <a:t>ADC</a:t>
            </a:r>
            <a:r>
              <a:rPr lang="zh-CN" altLang="en-US" dirty="0"/>
              <a:t>的基本性质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其次，梳理</a:t>
            </a:r>
            <a:r>
              <a:rPr lang="en-US" altLang="zh-CN" dirty="0"/>
              <a:t>ADC</a:t>
            </a:r>
            <a:r>
              <a:rPr lang="zh-CN" altLang="en-US" dirty="0"/>
              <a:t>典型的制造工艺 。剖析我们分离所要解决的问题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接着，也是本此汇报的重点，我们会介绍目前几种关键的分离方法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最后，结合课程所学习内容，我们尝试提出一种基于</a:t>
            </a:r>
            <a:r>
              <a:rPr lang="en-US" altLang="zh-CN" dirty="0"/>
              <a:t>TFF</a:t>
            </a:r>
            <a:r>
              <a:rPr lang="zh-CN" altLang="en-US" dirty="0"/>
              <a:t>技术的优化思路。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884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 首先是我们的第一部分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17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ADC</a:t>
            </a:r>
            <a:r>
              <a:rPr lang="zh-CN" altLang="en-US" dirty="0"/>
              <a:t>，全称抗体偶联药物，后续读</a:t>
            </a:r>
            <a:r>
              <a:rPr lang="en-US" altLang="zh-CN" dirty="0"/>
              <a:t>ppt</a:t>
            </a:r>
          </a:p>
          <a:p>
            <a:endParaRPr lang="en-US" altLang="zh-CN" dirty="0"/>
          </a:p>
          <a:p>
            <a:r>
              <a:rPr lang="zh-CN" altLang="en-US" dirty="0"/>
              <a:t>如图中所示，其结构上我们可以大致总结为三部分，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抗体（</a:t>
            </a:r>
            <a:r>
              <a:rPr lang="en-US" altLang="zh-CN" b="1" dirty="0" err="1"/>
              <a:t>mAb</a:t>
            </a:r>
            <a:r>
              <a:rPr lang="zh-CN" altLang="en-US" b="1" dirty="0"/>
              <a:t>）</a:t>
            </a:r>
            <a:r>
              <a:rPr lang="zh-CN" altLang="en-US" dirty="0"/>
              <a:t>：作为“制导系统”，靶向肿瘤细胞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小分子细胞毒素（</a:t>
            </a:r>
            <a:r>
              <a:rPr lang="en-US" altLang="zh-CN" b="1" dirty="0"/>
              <a:t>Payload</a:t>
            </a:r>
            <a:r>
              <a:rPr lang="zh-CN" altLang="en-US" b="1" dirty="0"/>
              <a:t>）</a:t>
            </a:r>
            <a:r>
              <a:rPr lang="zh-CN" altLang="en-US" dirty="0"/>
              <a:t>：作为“弹头”，具有超高毒性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连接子（</a:t>
            </a:r>
            <a:r>
              <a:rPr lang="en-US" altLang="zh-CN" b="1" dirty="0"/>
              <a:t>Linker</a:t>
            </a:r>
            <a:r>
              <a:rPr lang="zh-CN" altLang="en-US" b="1" dirty="0"/>
              <a:t>）</a:t>
            </a:r>
            <a:r>
              <a:rPr lang="zh-CN" altLang="en-US" dirty="0"/>
              <a:t>：将两者连接起来，需在血浆中稳定，入胞后释放药物 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它的核心应用就是</a:t>
            </a:r>
            <a:r>
              <a:rPr lang="zh-CN" altLang="en-US" b="1" dirty="0"/>
              <a:t>肿瘤治疗</a:t>
            </a:r>
            <a:r>
              <a:rPr lang="zh-CN" altLang="en-US" dirty="0"/>
              <a:t>，作为一种靶向癌症疗法，利用抗体的特异性像“生物导弹”一样精准识别肿瘤细胞，并将高效的细胞毒素递送至其内部进行杀伤，实现对癌细胞的精准杀伤，同时降低对健康组织的副作用。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94106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在正式介绍</a:t>
            </a:r>
            <a:r>
              <a:rPr lang="en-US" altLang="zh-CN" dirty="0"/>
              <a:t>ADC</a:t>
            </a:r>
            <a:r>
              <a:rPr lang="zh-CN" altLang="en-US" dirty="0"/>
              <a:t>的合成纯化之前，我们先了解它的前体物质</a:t>
            </a:r>
            <a:r>
              <a:rPr lang="en-US" altLang="zh-CN" dirty="0" err="1"/>
              <a:t>mAb</a:t>
            </a:r>
            <a:r>
              <a:rPr lang="zh-CN" altLang="en-US" dirty="0"/>
              <a:t>是如何制备的：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下面内容复述</a:t>
            </a:r>
            <a:r>
              <a:rPr lang="en-US" altLang="zh-CN" dirty="0"/>
              <a:t>ppt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9479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接下来，是</a:t>
            </a:r>
            <a:r>
              <a:rPr lang="en-US" altLang="zh-CN" dirty="0"/>
              <a:t>ADC</a:t>
            </a:r>
            <a:r>
              <a:rPr lang="zh-CN" altLang="en-US" dirty="0"/>
              <a:t>的合成纯化流程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然后读</a:t>
            </a:r>
            <a:r>
              <a:rPr lang="en-US" altLang="zh-CN" dirty="0"/>
              <a:t>ppt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12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313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在了解了基本的制作工艺后，我们分离纯化要解决的就是以下几个问题：</a:t>
            </a:r>
            <a:endParaRPr lang="en-US" altLang="zh-CN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charset="0"/>
              <a:buNone/>
            </a:pP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999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1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435424" y="5432466"/>
            <a:ext cx="5321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第十组</a:t>
            </a:r>
            <a:endParaRPr lang="en-US" altLang="zh-CN" sz="2400" b="1" dirty="0"/>
          </a:p>
          <a:p>
            <a:pPr algn="ctr"/>
            <a:r>
              <a:rPr lang="zh-CN" altLang="en-US" sz="2400" b="1" dirty="0"/>
              <a:t>资料汇总，汇报：吕启蒙</a:t>
            </a:r>
          </a:p>
          <a:p>
            <a:pPr algn="ctr"/>
            <a:r>
              <a:rPr lang="en-US" altLang="zh-CN" sz="2400" b="1" dirty="0"/>
              <a:t>PPT</a:t>
            </a:r>
            <a:r>
              <a:rPr lang="zh-CN" altLang="en-US" sz="2400" b="1" dirty="0"/>
              <a:t>制作，答疑：马唐逸农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drugconjugates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的应用：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核心应用场景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肿瘤治疗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	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4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740" y="1662065"/>
            <a:ext cx="8224520" cy="478155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48E1FE8-F98D-4769-87D1-D67B86337EAB}"/>
              </a:ext>
            </a:extLst>
          </p:cNvPr>
          <p:cNvSpPr txBox="1"/>
          <p:nvPr/>
        </p:nvSpPr>
        <p:spPr>
          <a:xfrm>
            <a:off x="720436" y="995805"/>
            <a:ext cx="29909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ADC</a:t>
            </a:r>
            <a:r>
              <a: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rPr>
              <a:t>的合成纯化流程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428" y="1108364"/>
            <a:ext cx="2258478" cy="332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929A82-9340-4F09-868B-5D41090841F7}"/>
              </a:ext>
            </a:extLst>
          </p:cNvPr>
          <p:cNvSpPr txBox="1"/>
          <p:nvPr/>
        </p:nvSpPr>
        <p:spPr>
          <a:xfrm>
            <a:off x="526473" y="1948934"/>
            <a:ext cx="2258478" cy="1748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0D0CA946-ADD5-4665-9517-87F935765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73" y="1631561"/>
            <a:ext cx="3548792" cy="23833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925B0C5-AF6E-4435-8BFD-1C4D186F4E3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321200" y="4014897"/>
            <a:ext cx="3549600" cy="23832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0BB665CF-11D0-4EE3-B2BD-6CF04C6CC643}"/>
              </a:ext>
            </a:extLst>
          </p:cNvPr>
          <p:cNvSpPr txBox="1"/>
          <p:nvPr/>
        </p:nvSpPr>
        <p:spPr>
          <a:xfrm>
            <a:off x="525666" y="4437529"/>
            <a:ext cx="354959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问题一：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</a:t>
            </a:r>
            <a:endParaRPr lang="zh-CN" altLang="en-US" sz="20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F353A0F-D98E-4A01-8506-5FBE095562B0}"/>
              </a:ext>
            </a:extLst>
          </p:cNvPr>
          <p:cNvSpPr txBox="1"/>
          <p:nvPr/>
        </p:nvSpPr>
        <p:spPr>
          <a:xfrm>
            <a:off x="4321201" y="2043953"/>
            <a:ext cx="354960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问题二：</a:t>
            </a:r>
            <a:endParaRPr lang="en-US" altLang="zh-CN" sz="2400" b="1" dirty="0"/>
          </a:p>
          <a:p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去除形成的蛋白聚集体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3BA0432-E243-4D72-B266-8436C571F3DA}"/>
              </a:ext>
            </a:extLst>
          </p:cNvPr>
          <p:cNvSpPr txBox="1"/>
          <p:nvPr/>
        </p:nvSpPr>
        <p:spPr>
          <a:xfrm>
            <a:off x="8368146" y="4437529"/>
            <a:ext cx="339803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dirty="0"/>
              <a:t>问题三：</a:t>
            </a:r>
            <a:endParaRPr lang="en-US" altLang="zh-CN" sz="2400" b="1" dirty="0"/>
          </a:p>
          <a:p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</a:t>
            </a:r>
            <a:endParaRPr lang="en-US" altLang="zh-CN" sz="2000" dirty="0"/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切向流过滤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(TFF)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优点：应用广泛，可用于去除有机溶剂、偶联相关杂质以及进行缓冲液交换。是一种简单且稳健的纯化方法。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的回收率高，通常大于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。对小分子杂质的清除率受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、温度、膜载量等工艺参数影响最小。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缺点：清除疏水性强的细胞毒性药物连接子时可能具有挑战性，因为它们可能自缔合形成胶束。无法去除聚集体。无法分离不同药物抗体比（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）的组分，最终产物是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混合物。</a:t>
            </a: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8434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442341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凝胶过滤色谱法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(SEC)</a:t>
            </a:r>
          </a:p>
          <a:p>
            <a:pPr indent="0" algn="just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优点：用于去除聚集体，这对降低免疫原性至关重要。也可用于缓冲液交换和去除小分子杂质。操作条件温和，通常在室温和中性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缓冲液中进行。是实验室规模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纯化的金标准方法。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缺点：其分辨率较低，不适合用于分离不同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固定相与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之间可能存在非特异性的疏水或静电相互作用。在大规模生产工艺中，通常首选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4547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403590" y="1349375"/>
            <a:ext cx="349758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优点：可以在非变性（天然）条件下进行，无需预处理即可分离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。能够有效分离不同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值的组分（如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）。可用于完全去除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的未偶联抗体，这可能有助于提高药物疗效。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缺点：纯化工艺仍需进一步优化，例如提高峰分辨率和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回收率。某些常用盐（如硫酸铵）可能导致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回收率降低。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7716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离子交换层析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(IEC)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优点：具有高回收率。能够去除包括小分子和内毒素在内的非抗体相关化合物。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缺点：目前将其用于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分析或纯化的研究报告数量有限。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4878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36803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羟基磷灰石层析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(HA)</a:t>
            </a:r>
          </a:p>
          <a:p>
            <a:pPr indent="0" algn="ctr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优点是一种有用的单克隆抗体纯化方法。能显著减少抗体聚集（例如从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降至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）。可有效去除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、内毒素以及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ProteinA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层析后残留的杂质。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缺点目前将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层析应用于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纯化的报道很少。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0991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406900" y="1349375"/>
            <a:ext cx="3569335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(MC)</a:t>
            </a:r>
          </a:p>
          <a:p>
            <a:pPr algn="ctr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优点：是基于树脂的层析的一个有前景的替代方案。能够同时实现去除聚集体、残留药物连接子以及分离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组分。可在高流速和低压力下操作。避免了传统层析需要高浓度盐和长接触时间的问题，从而减少了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聚集的风险。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缺点：已发表的关于其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纯化中应用的文献还比较少。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Ultracel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kDa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使用了两种不同的单克隆抗体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(Diafiltration) 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Diavolumes, DV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优化方案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电点是不同的。通过精确调控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44178" y="5387975"/>
            <a:ext cx="630364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查找资料，总结资料，汇报：吕启蒙</a:t>
            </a:r>
          </a:p>
          <a:p>
            <a:pPr algn="ctr"/>
            <a:r>
              <a:rPr lang="zh-CN" altLang="en-US" sz="2400" b="1" dirty="0"/>
              <a:t>制作</a:t>
            </a:r>
            <a:r>
              <a:rPr lang="en-US" altLang="zh-CN" sz="2400" b="1" dirty="0"/>
              <a:t>PPT</a:t>
            </a:r>
            <a:r>
              <a:rPr lang="zh-CN" altLang="en-US" sz="2400" b="1" dirty="0"/>
              <a:t>，答疑：马唐逸农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3285</Words>
  <Application>Microsoft Office PowerPoint</Application>
  <PresentationFormat>宽屏</PresentationFormat>
  <Paragraphs>192</Paragraphs>
  <Slides>23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67</cp:revision>
  <dcterms:created xsi:type="dcterms:W3CDTF">2024-06-04T23:12:00Z</dcterms:created>
  <dcterms:modified xsi:type="dcterms:W3CDTF">2025-10-24T12:57:52Z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