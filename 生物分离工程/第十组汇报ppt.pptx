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7" r:id="rId2"/>
    <p:sldId id="307" r:id="rId3"/>
    <p:sldId id="318" r:id="rId4"/>
    <p:sldId id="347" r:id="rId5"/>
    <p:sldId id="362" r:id="rId6"/>
    <p:sldId id="359" r:id="rId7"/>
    <p:sldId id="361" r:id="rId8"/>
    <p:sldId id="365" r:id="rId9"/>
    <p:sldId id="364" r:id="rId10"/>
    <p:sldId id="366" r:id="rId11"/>
    <p:sldId id="369" r:id="rId12"/>
    <p:sldId id="389" r:id="rId13"/>
    <p:sldId id="390" r:id="rId14"/>
    <p:sldId id="391" r:id="rId15"/>
    <p:sldId id="381" r:id="rId16"/>
    <p:sldId id="382" r:id="rId17"/>
    <p:sldId id="388" r:id="rId18"/>
    <p:sldId id="393" r:id="rId19"/>
    <p:sldId id="394" r:id="rId20"/>
    <p:sldId id="385" r:id="rId21"/>
    <p:sldId id="386" r:id="rId22"/>
    <p:sldId id="387" r:id="rId23"/>
    <p:sldId id="336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F88"/>
    <a:srgbClr val="8994BD"/>
    <a:srgbClr val="96A2D0"/>
    <a:srgbClr val="93BFF5"/>
    <a:srgbClr val="E6E6E6"/>
    <a:srgbClr val="3A68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3" autoAdjust="0"/>
    <p:restoredTop sz="53381" autoAdjust="0"/>
  </p:normalViewPr>
  <p:slideViewPr>
    <p:cSldViewPr snapToGrid="0">
      <p:cViewPr varScale="1">
        <p:scale>
          <a:sx n="48" d="100"/>
          <a:sy n="48" d="100"/>
        </p:scale>
        <p:origin x="1891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9EBC71-470F-4178-8939-B7F43C998C3E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7F53EF-5364-44E3-BFA2-84231755F7E3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老师，同学们，大家下午好。</a:t>
            </a:r>
          </a:p>
          <a:p>
            <a:r>
              <a:rPr lang="zh-CN" altLang="en-US" dirty="0"/>
              <a:t>我们是生物分离工程第十组，今天我们汇报的主题是“抗体药物偶联物（以下简称为</a:t>
            </a:r>
            <a:r>
              <a:rPr lang="en-US" altLang="zh-CN" dirty="0"/>
              <a:t>ADC</a:t>
            </a:r>
            <a:r>
              <a:rPr lang="zh-CN" altLang="en-US" dirty="0"/>
              <a:t>）的纯化” 。</a:t>
            </a:r>
            <a:endParaRPr lang="en-US" altLang="zh-CN" dirty="0"/>
          </a:p>
          <a:p>
            <a:r>
              <a:rPr lang="zh-CN" altLang="en-US" dirty="0"/>
              <a:t>我是本次的汇报人吕启蒙，此处是我们本次汇报的工作安排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40183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我们的汇报将围绕这几个方面展开：</a:t>
            </a:r>
            <a:endParaRPr lang="en-US" altLang="zh-CN" dirty="0"/>
          </a:p>
          <a:p>
            <a:pPr>
              <a:buFont typeface="+mj-lt"/>
              <a:buAutoNum type="arabicPeriod"/>
            </a:pPr>
            <a:r>
              <a:rPr lang="zh-CN" altLang="en-US" dirty="0"/>
              <a:t>首先，我们会介绍</a:t>
            </a:r>
            <a:r>
              <a:rPr lang="en-US" altLang="zh-CN" dirty="0"/>
              <a:t>ADC</a:t>
            </a:r>
            <a:r>
              <a:rPr lang="zh-CN" altLang="en-US" dirty="0"/>
              <a:t>的基本性质 。</a:t>
            </a:r>
          </a:p>
          <a:p>
            <a:pPr>
              <a:buFont typeface="+mj-lt"/>
              <a:buAutoNum type="arabicPeriod"/>
            </a:pPr>
            <a:r>
              <a:rPr lang="zh-CN" altLang="en-US" dirty="0"/>
              <a:t>其次，梳理</a:t>
            </a:r>
            <a:r>
              <a:rPr lang="en-US" altLang="zh-CN" dirty="0"/>
              <a:t>ADC</a:t>
            </a:r>
            <a:r>
              <a:rPr lang="zh-CN" altLang="en-US" dirty="0"/>
              <a:t>典型的制造工艺 。剖析我们分离所要解决的问题</a:t>
            </a:r>
          </a:p>
          <a:p>
            <a:pPr>
              <a:buFont typeface="+mj-lt"/>
              <a:buAutoNum type="arabicPeriod"/>
            </a:pPr>
            <a:r>
              <a:rPr lang="zh-CN" altLang="en-US" dirty="0"/>
              <a:t>接着，也是本此汇报的重点，我们会介绍目前几种关键的分离方法 。</a:t>
            </a:r>
          </a:p>
          <a:p>
            <a:pPr>
              <a:buFont typeface="+mj-lt"/>
              <a:buAutoNum type="arabicPeriod"/>
            </a:pPr>
            <a:r>
              <a:rPr lang="zh-CN" altLang="en-US" dirty="0"/>
              <a:t>最后，结合课程所学习内容，我们尝试提出一种基于</a:t>
            </a:r>
            <a:r>
              <a:rPr lang="en-US" altLang="zh-CN" dirty="0"/>
              <a:t>TFF</a:t>
            </a:r>
            <a:r>
              <a:rPr lang="zh-CN" altLang="en-US" dirty="0"/>
              <a:t>技术的优化思路。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48848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好 首先是我们的第一部分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2173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ADC</a:t>
            </a:r>
            <a:r>
              <a:rPr lang="zh-CN" altLang="en-US" dirty="0"/>
              <a:t>，全称抗体偶联药物，后续读</a:t>
            </a:r>
            <a:r>
              <a:rPr lang="en-US" altLang="zh-CN" dirty="0"/>
              <a:t>ppt</a:t>
            </a:r>
          </a:p>
          <a:p>
            <a:endParaRPr lang="en-US" altLang="zh-CN" dirty="0"/>
          </a:p>
          <a:p>
            <a:r>
              <a:rPr lang="zh-CN" altLang="en-US" dirty="0"/>
              <a:t>如图中所示，其结构上我们可以大致总结为三部分，</a:t>
            </a:r>
            <a:endParaRPr lang="en-US" altLang="zh-CN" dirty="0"/>
          </a:p>
          <a:p>
            <a:pPr>
              <a:buFont typeface="+mj-lt"/>
              <a:buAutoNum type="arabicPeriod"/>
            </a:pPr>
            <a:r>
              <a:rPr lang="zh-CN" altLang="en-US" b="1" dirty="0"/>
              <a:t>抗体（</a:t>
            </a:r>
            <a:r>
              <a:rPr lang="en-US" altLang="zh-CN" b="1" dirty="0" err="1"/>
              <a:t>mAb</a:t>
            </a:r>
            <a:r>
              <a:rPr lang="zh-CN" altLang="en-US" b="1" dirty="0"/>
              <a:t>）</a:t>
            </a:r>
            <a:r>
              <a:rPr lang="zh-CN" altLang="en-US" dirty="0"/>
              <a:t>：作为“制导系统”，靶向肿瘤细胞 。</a:t>
            </a:r>
          </a:p>
          <a:p>
            <a:pPr>
              <a:buFont typeface="+mj-lt"/>
              <a:buAutoNum type="arabicPeriod"/>
            </a:pPr>
            <a:r>
              <a:rPr lang="zh-CN" altLang="en-US" b="1" dirty="0"/>
              <a:t>小分子细胞毒素（</a:t>
            </a:r>
            <a:r>
              <a:rPr lang="en-US" altLang="zh-CN" b="1" dirty="0"/>
              <a:t>Payload</a:t>
            </a:r>
            <a:r>
              <a:rPr lang="zh-CN" altLang="en-US" b="1" dirty="0"/>
              <a:t>）</a:t>
            </a:r>
            <a:r>
              <a:rPr lang="zh-CN" altLang="en-US" dirty="0"/>
              <a:t>：作为“弹头”，具有超高毒性 。</a:t>
            </a:r>
          </a:p>
          <a:p>
            <a:pPr>
              <a:buFont typeface="+mj-lt"/>
              <a:buAutoNum type="arabicPeriod"/>
            </a:pPr>
            <a:r>
              <a:rPr lang="zh-CN" altLang="en-US" b="1" dirty="0"/>
              <a:t>连接子（</a:t>
            </a:r>
            <a:r>
              <a:rPr lang="en-US" altLang="zh-CN" b="1" dirty="0"/>
              <a:t>Linker</a:t>
            </a:r>
            <a:r>
              <a:rPr lang="zh-CN" altLang="en-US" b="1" dirty="0"/>
              <a:t>）</a:t>
            </a:r>
            <a:r>
              <a:rPr lang="zh-CN" altLang="en-US" dirty="0"/>
              <a:t>：将两者连接起来，需在血浆中稳定，入胞后释放药物 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它的核心应用就是</a:t>
            </a:r>
            <a:r>
              <a:rPr lang="zh-CN" altLang="en-US" b="1" dirty="0"/>
              <a:t>肿瘤治疗</a:t>
            </a:r>
            <a:r>
              <a:rPr lang="zh-CN" altLang="en-US" dirty="0"/>
              <a:t>，作为一种靶向癌症疗法，利用抗体的特异性像“生物导弹”一样精准识别肿瘤细胞，并将高效的细胞毒素递送至其内部</a:t>
            </a:r>
            <a:r>
              <a:rPr lang="zh-CN" altLang="en-US"/>
              <a:t>进行杀伤，</a:t>
            </a:r>
            <a:r>
              <a:rPr lang="zh-CN" altLang="en-US" dirty="0"/>
              <a:t>实现对癌细胞的精准杀伤，同时降低对健康组织的副作用。</a:t>
            </a:r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F53EF-5364-44E3-BFA2-84231755F7E3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94106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C1865-B79A-43E4-B218-34456B6B12C9}" type="datetimeFigureOut">
              <a:rPr lang="zh-CN" altLang="en-US" smtClean="0"/>
              <a:t>2025/10/24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EE32C2-5FDC-40E1-AD53-545CC803DDC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tags" Target="../tags/tag13.xml"/><Relationship Id="rId18" Type="http://schemas.openxmlformats.org/officeDocument/2006/relationships/notesSlide" Target="../notesSlides/notesSlide2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slideLayout" Target="../slideLayouts/slideLayout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10" Type="http://schemas.openxmlformats.org/officeDocument/2006/relationships/tags" Target="../tags/tag10.xml"/><Relationship Id="rId19" Type="http://schemas.openxmlformats.org/officeDocument/2006/relationships/image" Target="../media/image2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7318" y="487688"/>
            <a:ext cx="3377364" cy="938156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0" y="2279259"/>
            <a:ext cx="12192000" cy="2299792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6000" spc="3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平行四边形 14"/>
          <p:cNvSpPr/>
          <p:nvPr/>
        </p:nvSpPr>
        <p:spPr>
          <a:xfrm>
            <a:off x="-185979" y="2032990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平行四边形 15"/>
          <p:cNvSpPr/>
          <p:nvPr/>
        </p:nvSpPr>
        <p:spPr>
          <a:xfrm>
            <a:off x="7421105" y="4703038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3435424" y="5432466"/>
            <a:ext cx="53211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/>
              <a:t>第十组</a:t>
            </a:r>
            <a:endParaRPr lang="en-US" altLang="zh-CN" sz="2400" b="1" dirty="0"/>
          </a:p>
          <a:p>
            <a:pPr algn="ctr"/>
            <a:r>
              <a:rPr lang="zh-CN" altLang="en-US" sz="2400" b="1" dirty="0"/>
              <a:t>资料汇总，汇报：吕启蒙</a:t>
            </a:r>
          </a:p>
          <a:p>
            <a:pPr algn="ctr"/>
            <a:r>
              <a:rPr lang="en-US" altLang="zh-CN" sz="2400" b="1" dirty="0"/>
              <a:t>PPT</a:t>
            </a:r>
            <a:r>
              <a:rPr lang="zh-CN" altLang="en-US" sz="2400" b="1" dirty="0"/>
              <a:t>制作，答疑：马唐逸农</a:t>
            </a:r>
          </a:p>
        </p:txBody>
      </p:sp>
      <p:sp>
        <p:nvSpPr>
          <p:cNvPr id="21" name="矩形 20"/>
          <p:cNvSpPr/>
          <p:nvPr/>
        </p:nvSpPr>
        <p:spPr>
          <a:xfrm>
            <a:off x="1249998" y="2952588"/>
            <a:ext cx="9692005" cy="95313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56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抗体药物偶联物</a:t>
            </a:r>
            <a:r>
              <a:rPr lang="en-US" altLang="zh-CN" sz="56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(ADC)</a:t>
            </a:r>
            <a:r>
              <a:rPr lang="zh-CN" altLang="en-US" sz="56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的纯化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622935" y="0"/>
            <a:ext cx="3022600" cy="6904355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60020" y="-132715"/>
            <a:ext cx="3947160" cy="139065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006475" y="2668905"/>
            <a:ext cx="2254885" cy="9290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5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</a:p>
        </p:txBody>
      </p:sp>
      <p:sp>
        <p:nvSpPr>
          <p:cNvPr id="6" name="矩形 5"/>
          <p:cNvSpPr/>
          <p:nvPr/>
        </p:nvSpPr>
        <p:spPr>
          <a:xfrm>
            <a:off x="1194435" y="3941445"/>
            <a:ext cx="1878965" cy="464185"/>
          </a:xfrm>
          <a:prstGeom prst="rect">
            <a:avLst/>
          </a:prstGeom>
        </p:spPr>
        <p:txBody>
          <a:bodyPr wrap="none">
            <a:noAutofit/>
          </a:bodyPr>
          <a:lstStyle/>
          <a:p>
            <a:pPr algn="ctr"/>
            <a:r>
              <a:rPr lang="en-US" altLang="zh-CN" sz="2400" b="1" dirty="0">
                <a:solidFill>
                  <a:schemeClr val="bg1"/>
                </a:solidFill>
                <a:cs typeface="Arial" panose="020B0604020202020204" pitchFamily="34" charset="0"/>
              </a:rPr>
              <a:t>CONTENTS</a:t>
            </a:r>
            <a:endParaRPr lang="zh-CN" altLang="en-US" sz="2400" b="1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11" name="组合 10"/>
          <p:cNvGrpSpPr/>
          <p:nvPr/>
        </p:nvGrpSpPr>
        <p:grpSpPr>
          <a:xfrm flipH="1">
            <a:off x="3311236" y="2927691"/>
            <a:ext cx="254121" cy="405405"/>
            <a:chOff x="872368" y="2932651"/>
            <a:chExt cx="289004" cy="461055"/>
          </a:xfrm>
          <a:solidFill>
            <a:schemeClr val="bg1">
              <a:alpha val="24000"/>
            </a:schemeClr>
          </a:solidFill>
        </p:grpSpPr>
        <p:sp>
          <p:nvSpPr>
            <p:cNvPr id="12" name="梯形 11"/>
            <p:cNvSpPr/>
            <p:nvPr/>
          </p:nvSpPr>
          <p:spPr>
            <a:xfrm rot="16200000">
              <a:off x="907985" y="3140319"/>
              <a:ext cx="461055" cy="45719"/>
            </a:xfrm>
            <a:prstGeom prst="trapezoid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梯形 12"/>
            <p:cNvSpPr/>
            <p:nvPr/>
          </p:nvSpPr>
          <p:spPr>
            <a:xfrm rot="16200000">
              <a:off x="865248" y="3140319"/>
              <a:ext cx="298081" cy="45719"/>
            </a:xfrm>
            <a:prstGeom prst="trapezoid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梯形 13"/>
            <p:cNvSpPr/>
            <p:nvPr/>
          </p:nvSpPr>
          <p:spPr>
            <a:xfrm rot="16200000">
              <a:off x="801751" y="3140319"/>
              <a:ext cx="186954" cy="45719"/>
            </a:xfrm>
            <a:prstGeom prst="trapezoid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5" name="矩形 14"/>
          <p:cNvSpPr/>
          <p:nvPr/>
        </p:nvSpPr>
        <p:spPr>
          <a:xfrm>
            <a:off x="473710" y="3738245"/>
            <a:ext cx="3320415" cy="76200"/>
          </a:xfrm>
          <a:prstGeom prst="rect">
            <a:avLst/>
          </a:prstGeom>
          <a:solidFill>
            <a:schemeClr val="bg1">
              <a:lumMod val="9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8" name="组合 37"/>
          <p:cNvGrpSpPr/>
          <p:nvPr>
            <p:custDataLst>
              <p:tags r:id="rId1"/>
            </p:custDataLst>
          </p:nvPr>
        </p:nvGrpSpPr>
        <p:grpSpPr>
          <a:xfrm>
            <a:off x="5306907" y="857149"/>
            <a:ext cx="5686546" cy="1014730"/>
            <a:chOff x="5399714" y="1249447"/>
            <a:chExt cx="5686546" cy="1014730"/>
          </a:xfrm>
        </p:grpSpPr>
        <p:grpSp>
          <p:nvGrpSpPr>
            <p:cNvPr id="37" name="组合 36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18" name="矩形: 对角圆角 17"/>
              <p:cNvSpPr/>
              <p:nvPr>
                <p:custDataLst>
                  <p:tags r:id="rId15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" name="文本框 15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1</a:t>
                </a:r>
              </a:p>
            </p:txBody>
          </p:sp>
        </p:grpSp>
        <p:sp>
          <p:nvSpPr>
            <p:cNvPr id="36" name="文本框 35"/>
            <p:cNvSpPr txBox="1"/>
            <p:nvPr>
              <p:custDataLst>
                <p:tags r:id="rId14"/>
              </p:custDataLst>
            </p:nvPr>
          </p:nvSpPr>
          <p:spPr>
            <a:xfrm>
              <a:off x="6388425" y="1380521"/>
              <a:ext cx="4697835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zh-CN" sz="48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ADC</a:t>
              </a:r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的基本性质</a:t>
              </a:r>
            </a:p>
          </p:txBody>
        </p:sp>
      </p:grpSp>
      <p:grpSp>
        <p:nvGrpSpPr>
          <p:cNvPr id="20" name="组合 19"/>
          <p:cNvGrpSpPr/>
          <p:nvPr>
            <p:custDataLst>
              <p:tags r:id="rId2"/>
            </p:custDataLst>
          </p:nvPr>
        </p:nvGrpSpPr>
        <p:grpSpPr>
          <a:xfrm>
            <a:off x="5306907" y="2230915"/>
            <a:ext cx="5686546" cy="1014730"/>
            <a:chOff x="5399714" y="1249447"/>
            <a:chExt cx="5686546" cy="1014730"/>
          </a:xfrm>
        </p:grpSpPr>
        <p:grpSp>
          <p:nvGrpSpPr>
            <p:cNvPr id="21" name="组合 20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23" name="矩形: 对角圆角 22"/>
              <p:cNvSpPr/>
              <p:nvPr>
                <p:custDataLst>
                  <p:tags r:id="rId12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4" name="文本框 23"/>
              <p:cNvSpPr txBox="1"/>
              <p:nvPr>
                <p:custDataLst>
                  <p:tags r:id="rId13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2</a:t>
                </a:r>
              </a:p>
            </p:txBody>
          </p:sp>
        </p:grpSp>
        <p:sp>
          <p:nvSpPr>
            <p:cNvPr id="22" name="文本框 21"/>
            <p:cNvSpPr txBox="1"/>
            <p:nvPr>
              <p:custDataLst>
                <p:tags r:id="rId11"/>
              </p:custDataLst>
            </p:nvPr>
          </p:nvSpPr>
          <p:spPr>
            <a:xfrm>
              <a:off x="6388425" y="1380521"/>
              <a:ext cx="4697835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典型制造工艺</a:t>
              </a:r>
            </a:p>
          </p:txBody>
        </p:sp>
      </p:grpSp>
      <p:grpSp>
        <p:nvGrpSpPr>
          <p:cNvPr id="25" name="组合 24"/>
          <p:cNvGrpSpPr/>
          <p:nvPr>
            <p:custDataLst>
              <p:tags r:id="rId3"/>
            </p:custDataLst>
          </p:nvPr>
        </p:nvGrpSpPr>
        <p:grpSpPr>
          <a:xfrm>
            <a:off x="5306907" y="3604681"/>
            <a:ext cx="6797675" cy="1014730"/>
            <a:chOff x="5399714" y="1249447"/>
            <a:chExt cx="6797675" cy="1014730"/>
          </a:xfrm>
        </p:grpSpPr>
        <p:grpSp>
          <p:nvGrpSpPr>
            <p:cNvPr id="26" name="组合 25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28" name="矩形: 对角圆角 27"/>
              <p:cNvSpPr/>
              <p:nvPr>
                <p:custDataLst>
                  <p:tags r:id="rId9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9" name="文本框 28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3</a:t>
                </a:r>
              </a:p>
            </p:txBody>
          </p:sp>
        </p:grpSp>
        <p:sp>
          <p:nvSpPr>
            <p:cNvPr id="27" name="文本框 26"/>
            <p:cNvSpPr txBox="1"/>
            <p:nvPr>
              <p:custDataLst>
                <p:tags r:id="rId8"/>
              </p:custDataLst>
            </p:nvPr>
          </p:nvSpPr>
          <p:spPr>
            <a:xfrm>
              <a:off x="6388409" y="1380257"/>
              <a:ext cx="5808980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分离方法介绍</a:t>
              </a:r>
            </a:p>
          </p:txBody>
        </p:sp>
      </p:grpSp>
      <p:grpSp>
        <p:nvGrpSpPr>
          <p:cNvPr id="30" name="组合 29"/>
          <p:cNvGrpSpPr/>
          <p:nvPr>
            <p:custDataLst>
              <p:tags r:id="rId4"/>
            </p:custDataLst>
          </p:nvPr>
        </p:nvGrpSpPr>
        <p:grpSpPr>
          <a:xfrm>
            <a:off x="5306907" y="4978447"/>
            <a:ext cx="5686546" cy="1014730"/>
            <a:chOff x="5399714" y="1249447"/>
            <a:chExt cx="5686546" cy="1014730"/>
          </a:xfrm>
        </p:grpSpPr>
        <p:grpSp>
          <p:nvGrpSpPr>
            <p:cNvPr id="31" name="组合 30"/>
            <p:cNvGrpSpPr/>
            <p:nvPr/>
          </p:nvGrpSpPr>
          <p:grpSpPr>
            <a:xfrm>
              <a:off x="5399714" y="1249447"/>
              <a:ext cx="770179" cy="1014730"/>
              <a:chOff x="5399714" y="1249447"/>
              <a:chExt cx="770179" cy="1014730"/>
            </a:xfrm>
          </p:grpSpPr>
          <p:sp>
            <p:nvSpPr>
              <p:cNvPr id="33" name="矩形: 对角圆角 32"/>
              <p:cNvSpPr/>
              <p:nvPr>
                <p:custDataLst>
                  <p:tags r:id="rId6"/>
                </p:custDataLst>
              </p:nvPr>
            </p:nvSpPr>
            <p:spPr>
              <a:xfrm>
                <a:off x="5399714" y="1895803"/>
                <a:ext cx="696286" cy="284897"/>
              </a:xfrm>
              <a:prstGeom prst="round2DiagRect">
                <a:avLst>
                  <a:gd name="adj1" fmla="val 50000"/>
                  <a:gd name="adj2" fmla="val 0"/>
                </a:avLst>
              </a:prstGeom>
              <a:gradFill flip="none" rotWithShape="1">
                <a:gsLst>
                  <a:gs pos="100000">
                    <a:schemeClr val="accent1">
                      <a:lumMod val="0"/>
                      <a:lumOff val="100000"/>
                      <a:alpha val="36000"/>
                    </a:schemeClr>
                  </a:gs>
                  <a:gs pos="0">
                    <a:srgbClr val="003F88"/>
                  </a:gs>
                </a:gsLst>
                <a:lin ang="12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5473607" y="1249447"/>
                <a:ext cx="696286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altLang="zh-CN" sz="6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4</a:t>
                </a:r>
              </a:p>
            </p:txBody>
          </p:sp>
        </p:grpSp>
        <p:sp>
          <p:nvSpPr>
            <p:cNvPr id="32" name="文本框 31"/>
            <p:cNvSpPr txBox="1"/>
            <p:nvPr>
              <p:custDataLst>
                <p:tags r:id="rId5"/>
              </p:custDataLst>
            </p:nvPr>
          </p:nvSpPr>
          <p:spPr>
            <a:xfrm>
              <a:off x="6388425" y="1380521"/>
              <a:ext cx="4697835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zh-CN" altLang="en-US" sz="4800" dirty="0">
                  <a:latin typeface="Times New Roman" panose="02020603050405020304" pitchFamily="18" charset="0"/>
                  <a:ea typeface="微软雅黑" panose="020B0503020204020204" pitchFamily="34" charset="-122"/>
                </a:rPr>
                <a:t>优化方案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1376045" y="3258820"/>
            <a:ext cx="9521825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ADC</a:t>
            </a:r>
            <a:r>
              <a:rPr lang="zh-CN" altLang="en-US" sz="8800" spc="500" dirty="0">
                <a:solidFill>
                  <a:srgbClr val="003F8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的基本信息</a:t>
            </a:r>
            <a:endParaRPr lang="zh-CN" altLang="en-US" sz="8800" spc="500" dirty="0">
              <a:solidFill>
                <a:srgbClr val="003F88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一、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ADC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的基本性质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522845" y="1130300"/>
            <a:ext cx="4021455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antibody–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drugconjugates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）抗体药物偶联物，由靶向肿瘤特异性抗原或者靶向肿瘤相关抗原的单克隆抗体，与不同数目的小分子细胞毒素通过连接子偶联而成</a:t>
            </a:r>
          </a:p>
          <a:p>
            <a:endParaRPr lang="en-US" altLang="zh-CN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的结构可分为五个部分：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、细胞毒性有效负载、接头、附件和缀合位点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的应用：</a:t>
            </a:r>
            <a:endParaRPr lang="en-US" altLang="zh-CN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核心应用场景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——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肿瘤治疗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	</a:t>
            </a:r>
          </a:p>
          <a:p>
            <a:endParaRPr lang="zh-CN" altLang="en-US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13" name="图片 12" descr="jssc7408-fig-0001-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730" y="2015490"/>
            <a:ext cx="7289800" cy="3105150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5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384925" y="1903730"/>
            <a:ext cx="1137920" cy="117475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6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78435" y="2853690"/>
            <a:ext cx="1996440" cy="532130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7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77870" y="4744085"/>
            <a:ext cx="2708275" cy="543560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8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028690" y="4557395"/>
            <a:ext cx="1451610" cy="916940"/>
          </a:xfrm>
          <a:prstGeom prst="rect">
            <a:avLst/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9">
            <a:clrChange>
              <a:clrFrom>
                <a:srgbClr val="F9FAFB">
                  <a:alpha val="100000"/>
                </a:srgbClr>
              </a:clrFrom>
              <a:clrTo>
                <a:srgbClr val="F9FAFB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487170" y="5193030"/>
            <a:ext cx="1820545" cy="9690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02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2303457" y="3258880"/>
            <a:ext cx="7585087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典型制造工艺</a:t>
            </a: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二、典型制造工艺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10" name="图片 9" descr="大纲.pdf 和另外 1 个页面 - 用户配置 1 - Microsoft​ Edge 2025_10_22 13_53_29"/>
          <p:cNvPicPr>
            <a:picLocks noChangeAspect="1"/>
          </p:cNvPicPr>
          <p:nvPr/>
        </p:nvPicPr>
        <p:blipFill>
          <a:blip r:embed="rId3"/>
          <a:srcRect l="28039" t="32398" r="29243" b="22787"/>
          <a:stretch>
            <a:fillRect/>
          </a:stretch>
        </p:blipFill>
        <p:spPr>
          <a:xfrm>
            <a:off x="403860" y="1683385"/>
            <a:ext cx="6318885" cy="3936365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6865620" y="2228215"/>
            <a:ext cx="4217670" cy="28473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 algn="just">
              <a:buFont typeface="Wingdings" panose="05000000000000000000" charset="0"/>
              <a:buNone/>
            </a:pPr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单克隆抗体的完整生产流程</a:t>
            </a:r>
          </a:p>
          <a:p>
            <a:pPr indent="0" algn="just">
              <a:buFont typeface="Wingdings" panose="05000000000000000000" charset="0"/>
              <a:buNone/>
            </a:pPr>
            <a:endParaRPr lang="zh-CN" altLang="en-US" sz="2000" b="1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从细胞库启动细胞扩增</a:t>
            </a: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经生物反应器大规模培养表达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通过层析、切向流过滤（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）等步骤纯化</a:t>
            </a: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得到符合质量标准的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原液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二、典型制造工艺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10" y="1368425"/>
            <a:ext cx="8224520" cy="4781550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8174355" y="1576070"/>
            <a:ext cx="3725545" cy="46196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先经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进行缓冲液置换或稀释，将体系调整为适配后续反应的状态。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进行修饰（如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TCEP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还原）得到抗体中间体，与细胞毒性载荷偶联后生成粗制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粗制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可通过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直接纯化，或经色谱（如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膜色谱）处理纯化。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最终再经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完成缓冲液置换与制剂调配，得到成品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二、典型制造工艺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72745" y="1409065"/>
            <a:ext cx="11447145" cy="45008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分离需解决的问题</a:t>
            </a:r>
          </a:p>
          <a:p>
            <a:endParaRPr lang="zh-CN" altLang="en-US" sz="2000" b="1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分离不同药物抗体比（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drugtoantibodyratio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）的组分：生产得到的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通常是包含不同数量药物分子的抗体混合物（例如，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DAR=0,2,4,6,8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的混合物）。这个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值是影响药物疗效和安全性的关键质量属性：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过高的组分可能导致聚集和体内清除过快，影响安全性和药效；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过低的组分药效不足。</a:t>
            </a:r>
          </a:p>
          <a:p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去除聚集体：在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的生产和纯化过程中，蛋白质可能会形成聚集体。这些聚集体是一个主要的制造难题，因为它会促进免疫原性，可能导致严重的不良反应。</a:t>
            </a:r>
          </a:p>
          <a:p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清除游离的药物连接子及相关杂质：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所携带的小分子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有效载荷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payload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）通常具有极高的细胞毒性。因此，在偶联反应后，任何残留的、未结合到抗体上的游离药物连接子都必须被彻底清除，以确保最终药品的安全性。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1383030" y="3258820"/>
            <a:ext cx="10591800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分离方法介绍</a:t>
            </a: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三、分离方法介绍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212725" y="1349375"/>
            <a:ext cx="3945255" cy="4641215"/>
          </a:xfrm>
          <a:prstGeom prst="rect">
            <a:avLst/>
          </a:prstGeom>
        </p:spPr>
        <p:txBody>
          <a:bodyPr>
            <a:noAutofit/>
          </a:bodyPr>
          <a:lstStyle/>
          <a:p>
            <a:pPr algn="ctr"/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切向流过滤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(TFF)</a:t>
            </a:r>
          </a:p>
          <a:p>
            <a:pPr algn="just"/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优点：应用广泛，可用于去除有机溶剂、偶联相关杂质以及进行缓冲液交换。是一种简单且稳健的纯化方法。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的回收率高，通常大于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90%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。对小分子杂质的清除率受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、温度、膜载量等工艺参数影响最小。</a:t>
            </a: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缺点：清除疏水性强的细胞毒性药物连接子时可能具有挑战性，因为它们可能自缔合形成胶束。无法去除聚集体。无法分离不同药物抗体比（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）的组分，最终产物是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混合物。</a:t>
            </a:r>
          </a:p>
        </p:txBody>
      </p:sp>
      <p:cxnSp>
        <p:nvCxnSpPr>
          <p:cNvPr id="12" name="直接连接符 11"/>
          <p:cNvCxnSpPr/>
          <p:nvPr>
            <p:custDataLst>
              <p:tags r:id="rId1"/>
            </p:custDataLst>
          </p:nvPr>
        </p:nvCxnSpPr>
        <p:spPr>
          <a:xfrm>
            <a:off x="4284345" y="1349375"/>
            <a:ext cx="0" cy="4768850"/>
          </a:xfrm>
          <a:prstGeom prst="line">
            <a:avLst/>
          </a:prstGeom>
          <a:ln w="38100">
            <a:solidFill>
              <a:srgbClr val="003F88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4423410" y="1349375"/>
            <a:ext cx="3606800" cy="4505325"/>
          </a:xfrm>
          <a:prstGeom prst="rect">
            <a:avLst/>
          </a:prstGeom>
        </p:spPr>
        <p:txBody>
          <a:bodyPr>
            <a:noAutofit/>
          </a:bodyPr>
          <a:lstStyle/>
          <a:p>
            <a:pPr indent="0" algn="ctr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凝胶过滤色谱法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(SEC)</a:t>
            </a:r>
          </a:p>
          <a:p>
            <a:pPr indent="0" algn="just">
              <a:buFont typeface="Wingdings" panose="05000000000000000000" charset="0"/>
              <a:buNone/>
            </a:pP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优点：用于去除聚集体，这对降低免疫原性至关重要。也可用于缓冲液交换和去除小分子杂质。操作条件温和，通常在室温和中性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缓冲液中进行。是实验室规模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纯化的金标准方法。</a:t>
            </a: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缺点：其分辨率较低，不适合用于分离不同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的组分。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固定相与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之间可能存在非特异性的疏水或静电相互作用。在大规模生产工艺中，通常首选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</p:txBody>
      </p:sp>
      <p:cxnSp>
        <p:nvCxnSpPr>
          <p:cNvPr id="14" name="直接连接符 13"/>
          <p:cNvCxnSpPr/>
          <p:nvPr>
            <p:custDataLst>
              <p:tags r:id="rId2"/>
            </p:custDataLst>
          </p:nvPr>
        </p:nvCxnSpPr>
        <p:spPr>
          <a:xfrm>
            <a:off x="8245475" y="1349375"/>
            <a:ext cx="0" cy="4768850"/>
          </a:xfrm>
          <a:prstGeom prst="line">
            <a:avLst/>
          </a:prstGeom>
          <a:ln w="38100">
            <a:solidFill>
              <a:srgbClr val="003F88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8403590" y="1349375"/>
            <a:ext cx="3497580" cy="47078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疏水作用层析（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  <a:p>
            <a:pPr algn="just"/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优点：可以在非变性（天然）条件下进行，无需预处理即可分离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。能够有效分离不同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值的组分（如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DAR=0,2,4,8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）。可用于完全去除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的未偶联抗体，这可能有助于提高药物疗效。</a:t>
            </a: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缺点：纯化工艺仍需进一步优化，例如提高峰分辨率和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回收率。某些常用盐（如硫酸铵）可能导致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回收率降低。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三、分离方法介绍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177165" y="1349375"/>
            <a:ext cx="3945255" cy="4641215"/>
          </a:xfrm>
          <a:prstGeom prst="rect">
            <a:avLst/>
          </a:prstGeom>
        </p:spPr>
        <p:txBody>
          <a:bodyPr>
            <a:noAutofit/>
          </a:bodyPr>
          <a:lstStyle/>
          <a:p>
            <a:pPr algn="ctr"/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离子交换层析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(IEC)</a:t>
            </a: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just"/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优点：具有高回收率。能够去除包括小分子和内毒素在内的非抗体相关化合物。</a:t>
            </a: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缺点：目前将其用于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分析或纯化的研究报告数量有限。</a:t>
            </a: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2" name="直接连接符 11"/>
          <p:cNvCxnSpPr/>
          <p:nvPr>
            <p:custDataLst>
              <p:tags r:id="rId1"/>
            </p:custDataLst>
          </p:nvPr>
        </p:nvCxnSpPr>
        <p:spPr>
          <a:xfrm>
            <a:off x="4248785" y="1349375"/>
            <a:ext cx="0" cy="4768850"/>
          </a:xfrm>
          <a:prstGeom prst="line">
            <a:avLst/>
          </a:prstGeom>
          <a:ln w="38100">
            <a:solidFill>
              <a:srgbClr val="003F88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8368030" y="1349375"/>
            <a:ext cx="3606800" cy="4505325"/>
          </a:xfrm>
          <a:prstGeom prst="rect">
            <a:avLst/>
          </a:prstGeom>
        </p:spPr>
        <p:txBody>
          <a:bodyPr>
            <a:noAutofit/>
          </a:bodyPr>
          <a:lstStyle/>
          <a:p>
            <a:pPr indent="0" algn="ctr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羟基磷灰石层析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(HA)</a:t>
            </a:r>
          </a:p>
          <a:p>
            <a:pPr indent="0" algn="ctr">
              <a:buFont typeface="Wingdings" panose="05000000000000000000" charset="0"/>
              <a:buNone/>
            </a:pP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优点是一种有用的单克隆抗体纯化方法。能显著减少抗体聚集（例如从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60%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降至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0.1%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）。可有效去除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DNA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、内毒素以及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ProteinA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层析后残留的杂质。</a:t>
            </a: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缺点目前将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层析应用于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纯化的报道很少。</a:t>
            </a:r>
          </a:p>
        </p:txBody>
      </p:sp>
      <p:cxnSp>
        <p:nvCxnSpPr>
          <p:cNvPr id="14" name="直接连接符 13"/>
          <p:cNvCxnSpPr/>
          <p:nvPr>
            <p:custDataLst>
              <p:tags r:id="rId2"/>
            </p:custDataLst>
          </p:nvPr>
        </p:nvCxnSpPr>
        <p:spPr>
          <a:xfrm>
            <a:off x="8209915" y="1349375"/>
            <a:ext cx="0" cy="4768850"/>
          </a:xfrm>
          <a:prstGeom prst="line">
            <a:avLst/>
          </a:prstGeom>
          <a:ln w="38100">
            <a:solidFill>
              <a:srgbClr val="003F88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4406900" y="1349375"/>
            <a:ext cx="3569335" cy="4399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膜层析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(MC)</a:t>
            </a:r>
          </a:p>
          <a:p>
            <a:pPr algn="ctr"/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优点：是基于树脂的层析的一个有前景的替代方案。能够同时实现去除聚集体、残留药物连接子以及分离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组分。可在高流速和低压力下操作。避免了传统层析需要高浓度盐和长接触时间的问题，从而减少了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聚集的风险。</a:t>
            </a: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缺点：已发表的关于其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纯化中应用的文献还比较少。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526415" y="1028065"/>
            <a:ext cx="10833735" cy="29806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系统组成：蠕动泵、带搅拌的料液罐（反应器）、压力传感器（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P1, P2, P3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）、渗透液收集罐以及连接管路。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膜包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核心分离元件为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Millipore Pellicon-3 Ultracel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（再生纤维素）膜包。该膜包的截留分子量（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MWCO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30 kDa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，膜面积为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88 cm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²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，采用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型筛网。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抗体与缓冲液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使用了两种不同的单克隆抗体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34C3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AB095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。渗滤（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）缓冲液为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15 mM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组氨酸缓冲液（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 6.0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切向流过滤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(TFF)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8320" y="3377565"/>
            <a:ext cx="8274050" cy="28467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切向流过滤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(TFF)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247015" y="2405380"/>
            <a:ext cx="4502785" cy="13601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目标分离物（小分子杂质）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实验中向抗体溶液中加入了五种代表性的工艺杂质：</a:t>
            </a:r>
          </a:p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溶剂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二甲基亚砜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(DMSO)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N,N-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二甲基乙酰胺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(DMA)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反应相关物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氧化三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(2-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羧乙基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(TCEP=O)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、乙二胺四乙酸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(EDTA)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N-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乙酰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-L-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半胱氨酸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(NAC)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4796790" y="988060"/>
            <a:ext cx="6970395" cy="59937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1.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系统准备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每次运行前，使用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0.1 N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的氢氧化钠对整个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系统进行彻底的清洗和消毒，随后用纯水冲洗，并使用渗滤缓冲液进行平衡。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上样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将含有特定浓度小分子杂质的抗体溶液（约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50 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）加入到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系统的反应器中，初始的蛋白膜载量为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113 g/m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²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3.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恒定体积渗滤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(Diafiltration) 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启动系统，在恒定体积、恒定跨膜压差的模式下运行。泵驱动料液在膜表面高速切向流动，标准操作条件设定为：切向流速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300 L·m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⁻²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·hr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⁻¹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44 mL/min)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跨膜压差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(TMP) : 18-20 psi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温度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室温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(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21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C)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在操作过程中，渗透液不断穿过膜被收集，同时系统会自动补充新鲜的渗滤缓冲液，以精确维持反应器中料液体积不变。整个过程通常进行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个渗滤体积（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Diavolumes, DV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4.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取样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在第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等不同的渗滤体积点，分别从截留液和渗透液出口采集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 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样品用于后续浓度分析。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5.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浓度分析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使用经过验证的分析方法（如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HPLC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LC-MS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）对采集样品中五种小分子杂质的精确浓度进行定量检测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切向流过滤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(TFF)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>
                  <a:alpha val="100000"/>
                </a:srgbClr>
              </a:clrFrom>
              <a:clrTo>
                <a:srgbClr val="FEFEFE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71195" y="982980"/>
            <a:ext cx="4852670" cy="573913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6195060" y="1884045"/>
            <a:ext cx="4864100" cy="3169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主要结果：杂质清除效率极高。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实验结果显示，所有五种小分子杂质的浓度均随渗滤体积数的增加呈现出线性下降。计算得出的筛分系数（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0.85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0.99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之间，非常接近理论最大值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。这表明，该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工艺能够以近乎理想的状态高效清除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工艺中常见的各类小分子杂质。例如，对于初始浓度约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10%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DMA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DMSO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，经过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个渗滤体积的操作后，其残留浓度降低了超过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2000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倍。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疏水作用层析（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HIC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37515" y="1208405"/>
            <a:ext cx="4502150" cy="5476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疏水作用层析（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）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分离纯化过程在一套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AKTAPure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层析系统上进行，具体步骤如下：</a:t>
            </a:r>
          </a:p>
          <a:p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1.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样品准备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取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2.5mL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浓度为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20mg/mL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粗品溶液，与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2.5mL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（高盐缓冲液）进行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1:1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混合。这一步是为了创造一个高盐环境，确保所有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组分在注入色谱柱后都能有效结合。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2.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上样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将上述制备好的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5mL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样品混合液，注入到已经用缓冲液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预平衡好的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色谱柱中。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3.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梯度洗脱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采用线性梯度进行洗脱。起始条件为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100%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，然后逐渐增加缓冲液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（低盐、含有机溶剂的洗脱液）的比例。</a:t>
            </a:r>
          </a:p>
        </p:txBody>
      </p:sp>
      <p:sp>
        <p:nvSpPr>
          <p:cNvPr id="16" name="文本框 15"/>
          <p:cNvSpPr txBox="1"/>
          <p:nvPr/>
        </p:nvSpPr>
        <p:spPr>
          <a:xfrm>
            <a:off x="5922010" y="526669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9365615" y="1239520"/>
            <a:ext cx="2608580" cy="4523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蓝色（</a:t>
            </a:r>
            <a:r>
              <a:rPr lang="en-US" altLang="zh-CN">
                <a:solidFill>
                  <a:schemeClr val="accent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UV1_280</a:t>
            </a:r>
            <a:r>
              <a:rPr lang="zh-CN" altLang="en-US">
                <a:solidFill>
                  <a:schemeClr val="accent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：检测蛋白质（抗体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/ADC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）的信号峰，峰高反映组分浓度。</a:t>
            </a:r>
          </a:p>
          <a:p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>
                <a:solidFill>
                  <a:schemeClr val="accent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橙色（</a:t>
            </a:r>
            <a:r>
              <a:rPr lang="en-US" altLang="zh-CN">
                <a:solidFill>
                  <a:schemeClr val="accent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Cond</a:t>
            </a:r>
            <a:r>
              <a:rPr lang="zh-CN" altLang="en-US">
                <a:solidFill>
                  <a:schemeClr val="accent2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：电导率，反映洗脱液中盐浓度变化（离子交换色谱中，盐浓度决定吸附强度）。</a:t>
            </a:r>
          </a:p>
          <a:p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>
                <a:solidFill>
                  <a:schemeClr val="accent6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绿色（</a:t>
            </a:r>
            <a:r>
              <a:rPr lang="en-US" altLang="zh-CN">
                <a:solidFill>
                  <a:schemeClr val="accent6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ConcB</a:t>
            </a:r>
            <a:r>
              <a:rPr lang="zh-CN" altLang="en-US">
                <a:solidFill>
                  <a:schemeClr val="accent6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：流动相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的浓度（梯度洗脱中，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相是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强洗脱成分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，如高盐溶液），绿色线上升表示</a:t>
            </a:r>
            <a:r>
              <a:rPr lang="en-US" altLang="zh-CN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相浓度增加，推动样品洗脱</a:t>
            </a:r>
            <a:r>
              <a:rPr lang="zh-CN" altLang="en-US"/>
              <a:t>。</a:t>
            </a: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9185" y="1953260"/>
            <a:ext cx="4193540" cy="32505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526415" y="1028065"/>
            <a:ext cx="6120765" cy="5476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6557010" y="1096645"/>
            <a:ext cx="5156835" cy="5631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，因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偶联药物后电荷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/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疏水性改变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，与层析介质的相互作用强弱不同：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（裸抗体）相互作用最弱，最先被洗脱（盐浓度低时就被洗出）；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DAR=2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（偶联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个药物）相互作用最强，需要更高浓度的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“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强洗脱液（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”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才能洗出（对应绿色线上升到一定程度后，该峰出现）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橙色曲线（电导率曲线）先下降再上升：当将样品注入到正在流动的初始高盐缓冲液（流动相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）中时，样品本身的溶剂环境和流动相的溶剂环境有微小差异（比如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、盐种类、添加剂等），会引起电导率检测器的瞬间扰动，从而产生一个快速的波动，也标志着您的样品团经进入了色谱柱。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60" y="1123315"/>
            <a:ext cx="6431915" cy="498602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疏水作用层析（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HIC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离子交换层析（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IEC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20725" y="1487170"/>
            <a:ext cx="10437495" cy="55683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分离和检测完整定点抗体药物偶联物（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）的技术：强阳离子交换色谱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紫外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-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质谱（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SCX-UV-MS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），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用于评估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  <a:sym typeface="+mn-ea"/>
              </a:rPr>
              <a:t>的整体特性，如药物分布和电荷异质性。</a:t>
            </a:r>
          </a:p>
          <a:p>
            <a:pPr marL="285750" indent="-285750">
              <a:buFont typeface="Wingdings" panose="05000000000000000000" charset="0"/>
              <a:buChar char="Ø"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具体分离步骤和所用的设备材料：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超高效液相色谱系统，色谱柱，紫外（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UV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）检测器，质谱（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MS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）检测器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流动相（缓冲液）：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50 mM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乙酸铵，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 5.0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160 mM 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乙酸铵，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pH 8.5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</a:t>
            </a:r>
          </a:p>
          <a:p>
            <a:pPr indent="0">
              <a:buFont typeface="Wingdings" panose="05000000000000000000" charset="0"/>
              <a:buNone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色谱分离与洗脱步骤：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将样品注入色谱系统后，在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30</a:t>
            </a:r>
            <a:r>
              <a:rPr lang="en-US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的柱温和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0.1 mL/min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的流速下进行分离。梯度从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40% 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相开始，在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分钟内线性增加至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98% 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相。洗脱完成后，系统会用高比例的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相清洗色谱柱，并重新平衡至初始条件，为下一次进样做准备。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离子交换层析（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IEC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698490" y="1445260"/>
            <a:ext cx="6191250" cy="3169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分离方法的建立与重现性验证</a:t>
            </a: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操作步骤：为了验证分离方法的稳定性，将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样品（图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a, 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）和其来源的未偶联抗体（图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c, d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）分别连续进样两次。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过程监测：通过紫外检测器记录的色谱图显示，两次进样的出峰曲线几乎完全重叠，表明分离过程稳定可靠。同时观察到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12-13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分钟）比未偶联抗体（约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13.5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分钟）更早从色谱柱中被洗脱出来，实现了有效分离。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rcRect t="2799"/>
          <a:stretch>
            <a:fillRect/>
          </a:stretch>
        </p:blipFill>
        <p:spPr>
          <a:xfrm>
            <a:off x="386715" y="1477010"/>
            <a:ext cx="5195570" cy="34182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79375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三、分离方法介绍</a:t>
            </a:r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离子交换层析（</a:t>
            </a:r>
            <a:r>
              <a:rPr lang="en-US" altLang="zh-CN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IEC</a:t>
            </a:r>
            <a:r>
              <a:rPr lang="zh-CN" altLang="en-US" sz="28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endParaRPr lang="zh-CN" altLang="en-US" sz="28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7529195" y="1779270"/>
            <a:ext cx="4662805" cy="32308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完整</a:t>
            </a:r>
            <a:r>
              <a:rPr lang="en-US" altLang="zh-CN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的分离与在线质谱鉴定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</a:p>
          <a:p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操作步骤：将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样品注入系统进行分离。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过程监测：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UV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色谱图显示出一簇由多个峰组成的主峰。当这簇峰的组分流出紫外检测器后，立即被导入质谱仪进行实时分子量测定。对收集到的质谱信号进行去卷积处理（图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2b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），获得了清晰的分子量信息，从而鉴定出含有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个、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个或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个药物分子的不同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组分</a:t>
            </a: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>
                  <a:alpha val="100000"/>
                </a:srgbClr>
              </a:clrFrom>
              <a:clrTo>
                <a:srgbClr val="FEFEFE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56870" y="1779270"/>
            <a:ext cx="7172325" cy="3543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7"/>
          <p:cNvSpPr txBox="1"/>
          <p:nvPr/>
        </p:nvSpPr>
        <p:spPr>
          <a:xfrm>
            <a:off x="4167031" y="1141229"/>
            <a:ext cx="3857936" cy="268697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25000" kern="1200">
                <a:solidFill>
                  <a:schemeClr val="bg1">
                    <a:lumMod val="85000"/>
                  </a:schemeClr>
                </a:solidFill>
                <a:latin typeface="Impact" panose="020B080603090205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04</a:t>
            </a:r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2729345" y="4551218"/>
            <a:ext cx="6954705" cy="83128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占位符 9"/>
          <p:cNvSpPr txBox="1"/>
          <p:nvPr/>
        </p:nvSpPr>
        <p:spPr>
          <a:xfrm>
            <a:off x="1376045" y="3258820"/>
            <a:ext cx="9521825" cy="8223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zh-CN"/>
            </a:defPPr>
            <a:lvl1pPr marL="0" indent="0" algn="dist" defTabSz="914400" rtl="0" eaLnBrk="1" latinLnBrk="0" hangingPunct="1">
              <a:buNone/>
              <a:defRPr sz="8000" b="1" kern="120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8800" spc="500" dirty="0">
                <a:solidFill>
                  <a:srgbClr val="003F88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优化方案</a:t>
            </a:r>
            <a:endParaRPr lang="zh-CN" altLang="en-US" sz="8800" spc="500" dirty="0">
              <a:solidFill>
                <a:srgbClr val="003F88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矩形: 圆角 6"/>
          <p:cNvSpPr/>
          <p:nvPr/>
        </p:nvSpPr>
        <p:spPr>
          <a:xfrm>
            <a:off x="216692" y="242887"/>
            <a:ext cx="11758613" cy="6415088"/>
          </a:xfrm>
          <a:prstGeom prst="roundRect">
            <a:avLst>
              <a:gd name="adj" fmla="val 4863"/>
            </a:avLst>
          </a:prstGeom>
          <a:noFill/>
          <a:ln w="28575">
            <a:solidFill>
              <a:srgbClr val="003F88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四、优化方案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895985" y="1184910"/>
            <a:ext cx="10302240" cy="47078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 algn="just">
              <a:buFont typeface="Wingdings" panose="05000000000000000000" charset="0"/>
              <a:buNone/>
            </a:pPr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典型的</a:t>
            </a:r>
            <a:r>
              <a:rPr lang="en-US" altLang="zh-CN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 b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纯化流程</a:t>
            </a:r>
          </a:p>
          <a:p>
            <a:pPr indent="0" algn="just">
              <a:buFont typeface="Wingdings" panose="05000000000000000000" charset="0"/>
              <a:buNone/>
            </a:pPr>
            <a:endParaRPr lang="zh-CN" altLang="en-US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第一步：初次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处理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目的：去除偶联反应后残留的小分子杂质，如还原剂、溶剂和未反应的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drug-linker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。同时，它也用来更换缓冲液，为下一步色谱做准备。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局限：这一步无法去除抗体相关的杂质，比如聚体或不同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值的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组分</a:t>
            </a: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第二步：色谱分离（核心步骤）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目的：这是精细纯化的关键。使用诸如疏水作用色谱（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）或尺寸排阻色谱（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）等技术。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可以根据疏水性的不同，分离出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DAR=0,DAR=2,DAR=4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等不同组分。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主要用来去除聚体。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局限：色谱法通常需要高浓度的盐（如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HIC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）或特殊的缓冲液来进行洗脱，这些条件对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可能并不友好，有时还会导致蛋白聚集。而且色谱填料昂贵，操作耗时，是成本的主要来源。</a:t>
            </a:r>
            <a:endParaRPr lang="en-US" altLang="zh-CN" sz="20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marL="342900" indent="-342900" algn="just">
              <a:buFont typeface="Wingdings" panose="05000000000000000000" charset="0"/>
              <a:buChar char="Ø"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第三步：再次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TFF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处理</a:t>
            </a:r>
          </a:p>
          <a:p>
            <a:pPr indent="0" algn="just">
              <a:buFont typeface="Wingdings" panose="05000000000000000000" charset="0"/>
              <a:buNone/>
            </a:pP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目的：将经过色谱纯化的</a:t>
            </a:r>
            <a:r>
              <a:rPr lang="en-US" altLang="zh-CN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ADC</a:t>
            </a:r>
            <a:r>
              <a:rPr lang="zh-CN" altLang="en-US" sz="200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换入最终的稳定配方缓冲液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332509" y="415637"/>
            <a:ext cx="8035637" cy="411017"/>
            <a:chOff x="387927" y="452582"/>
            <a:chExt cx="8035637" cy="411017"/>
          </a:xfrm>
        </p:grpSpPr>
        <p:sp>
          <p:nvSpPr>
            <p:cNvPr id="2" name="矩形 1"/>
            <p:cNvSpPr/>
            <p:nvPr/>
          </p:nvSpPr>
          <p:spPr>
            <a:xfrm>
              <a:off x="387927" y="452582"/>
              <a:ext cx="387928" cy="184727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/>
            <p:cNvSpPr/>
            <p:nvPr/>
          </p:nvSpPr>
          <p:spPr>
            <a:xfrm>
              <a:off x="581891" y="544945"/>
              <a:ext cx="512618" cy="318654"/>
            </a:xfrm>
            <a:prstGeom prst="rect">
              <a:avLst/>
            </a:prstGeom>
            <a:solidFill>
              <a:srgbClr val="003F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" name="直接连接符 4"/>
            <p:cNvCxnSpPr/>
            <p:nvPr/>
          </p:nvCxnSpPr>
          <p:spPr>
            <a:xfrm>
              <a:off x="951345" y="826655"/>
              <a:ext cx="7472219" cy="0"/>
            </a:xfrm>
            <a:prstGeom prst="line">
              <a:avLst/>
            </a:prstGeom>
            <a:ln w="57150">
              <a:solidFill>
                <a:srgbClr val="003F8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9268" y="277013"/>
            <a:ext cx="2045209" cy="568113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165225" y="269240"/>
            <a:ext cx="389953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四、优化方案</a:t>
            </a:r>
            <a:endParaRPr lang="zh-CN" altLang="en-US" sz="2800" dirty="0">
              <a:solidFill>
                <a:srgbClr val="003F8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55040" y="1109980"/>
            <a:ext cx="9794240" cy="54356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电荷调控切向流过滤技术</a:t>
            </a:r>
            <a:r>
              <a:rPr lang="en-US" altLang="zh-CN" sz="2000" b="1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(CM-TFF)</a:t>
            </a:r>
          </a:p>
          <a:p>
            <a:endParaRPr lang="en-US" altLang="zh-CN" sz="20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通过对膜表面进行电荷修饰（如引入阳离子基团），利用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“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电荷相互作用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增强分离能力，突破了传统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TFF“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仅靠分子量分离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的局限。</a:t>
            </a:r>
          </a:p>
          <a:p>
            <a:endParaRPr lang="zh-CN" altLang="en-US" sz="200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去除小分子杂质（取代第一步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分离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DAR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组分和聚体（取代第二步色谱）</a:t>
            </a:r>
          </a:p>
          <a:p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不同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DAR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值的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ADC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分子，其表面的电荷分布和等</a:t>
            </a:r>
          </a:p>
          <a:p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电点是不同的。通过精确调控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pH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和电场，让不想要的组分因电场力的作用更容易穿过膜，或让最想要的组分在膜表面富集，从而实现分离。这相当于在过滤的同时进行了一次离子交换。</a:t>
            </a:r>
          </a:p>
          <a:p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去除聚体：聚体不仅尺寸更大，其表面电荷特性也与单体不同。可以设定电场条件，主动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“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排斥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”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聚体，防止它们堵塞膜孔，并更有效地将它们从产品中清除出去。</a:t>
            </a:r>
          </a:p>
          <a:p>
            <a:pPr marL="342900" indent="-342900">
              <a:buFont typeface="Wingdings" panose="05000000000000000000" charset="0"/>
              <a:buChar char="Ø"/>
            </a:pP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最终配方缓冲液置换（取代第三步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）</a:t>
            </a:r>
          </a:p>
          <a:p>
            <a:pPr indent="0">
              <a:buFont typeface="Wingdings" panose="05000000000000000000" charset="0"/>
              <a:buNone/>
            </a:pP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当分离过程完成，达到了我们想要的纯度和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DAR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分布后，只需关闭电场，这个系统就变回一个标准的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TFF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装置。我们可以直接用它进行最后的缓冲液置换，将纯化好的</a:t>
            </a:r>
            <a:r>
              <a:rPr lang="en-US" altLang="zh-CN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ADC</a:t>
            </a:r>
            <a:r>
              <a:rPr lang="zh-CN" altLang="en-US" sz="200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rPr>
              <a:t>换入最终的配方缓冲液中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7318" y="487688"/>
            <a:ext cx="3377364" cy="938156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0" y="2279259"/>
            <a:ext cx="12192000" cy="2299792"/>
          </a:xfrm>
          <a:prstGeom prst="rect">
            <a:avLst/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6000" spc="300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5" name="平行四边形 14"/>
          <p:cNvSpPr/>
          <p:nvPr/>
        </p:nvSpPr>
        <p:spPr>
          <a:xfrm>
            <a:off x="-185979" y="2032990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平行四边形 15"/>
          <p:cNvSpPr/>
          <p:nvPr/>
        </p:nvSpPr>
        <p:spPr>
          <a:xfrm>
            <a:off x="7421105" y="4703038"/>
            <a:ext cx="4959457" cy="108489"/>
          </a:xfrm>
          <a:prstGeom prst="parallelogram">
            <a:avLst>
              <a:gd name="adj" fmla="val 80556"/>
            </a:avLst>
          </a:prstGeom>
          <a:solidFill>
            <a:srgbClr val="003F8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/>
          <p:cNvSpPr/>
          <p:nvPr/>
        </p:nvSpPr>
        <p:spPr>
          <a:xfrm>
            <a:off x="1948069" y="2921168"/>
            <a:ext cx="8295861" cy="10156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6000" b="1" spc="300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恳请老师同学批评指正</a:t>
            </a:r>
            <a:endParaRPr lang="en-US" altLang="zh-CN" sz="6000" b="1" spc="300" dirty="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944178" y="5387975"/>
            <a:ext cx="630364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b="1" dirty="0"/>
              <a:t>查找资料，总结资料，汇报：吕启蒙</a:t>
            </a:r>
          </a:p>
          <a:p>
            <a:pPr algn="ctr"/>
            <a:r>
              <a:rPr lang="zh-CN" altLang="en-US" sz="2400" b="1" dirty="0"/>
              <a:t>制作</a:t>
            </a:r>
            <a:r>
              <a:rPr lang="en-US" altLang="zh-CN" sz="2400" b="1" dirty="0"/>
              <a:t>PPT</a:t>
            </a:r>
            <a:r>
              <a:rPr lang="zh-CN" altLang="en-US" sz="2400" b="1" dirty="0"/>
              <a:t>，答疑：马唐逸农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04.4851181102363,&quot;left&quot;:417.86669291338586,&quot;top&quot;:67.4920472440945,&quot;width&quot;:535.25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5.67425196850394,&quot;left&quot;:90.9767716535433,&quot;top&quot;:101.58133858267716,&quot;width&quot;:802.8834645669291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5.67425196850394,&quot;left&quot;:90.9767716535433,&quot;top&quot;:101.58133858267716,&quot;width&quot;:802.8834645669291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5.67425196850394,&quot;left&quot;:90.9767716535433,&quot;top&quot;:101.58133858267716,&quot;width&quot;:802.8834645669291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85.67425196850394,&quot;left&quot;:90.9767716535433,&quot;top&quot;:101.58133858267716,&quot;width&quot;:802.8834645669291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微arial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3188</Words>
  <Application>Microsoft Office PowerPoint</Application>
  <PresentationFormat>宽屏</PresentationFormat>
  <Paragraphs>174</Paragraphs>
  <Slides>23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3" baseType="lpstr">
      <vt:lpstr>等线</vt:lpstr>
      <vt:lpstr>黑体</vt:lpstr>
      <vt:lpstr>宋体</vt:lpstr>
      <vt:lpstr>微软雅黑</vt:lpstr>
      <vt:lpstr>Arial</vt:lpstr>
      <vt:lpstr>Calibri</vt:lpstr>
      <vt:lpstr>Impact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</dc:creator>
  <cp:lastModifiedBy>启蒙 吕</cp:lastModifiedBy>
  <cp:revision>62</cp:revision>
  <dcterms:created xsi:type="dcterms:W3CDTF">2024-06-04T23:12:00Z</dcterms:created>
  <dcterms:modified xsi:type="dcterms:W3CDTF">2025-10-24T12:24:30Z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DF3AE3002D15404EBBB7400DA20D9227_12</vt:lpwstr>
  </property>
  <property fmtid="{D5CDD505-2E9C-101B-9397-08002B2CF9AE}" pid="3" name="KSOProductBuildVer">
    <vt:lpwstr>2052-12.1.0.19770</vt:lpwstr>
  </property>
</Properties>
</file>