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2"/>
    <p:sldId id="307" r:id="rId3"/>
    <p:sldId id="318" r:id="rId4"/>
    <p:sldId id="347" r:id="rId5"/>
    <p:sldId id="362" r:id="rId6"/>
    <p:sldId id="359" r:id="rId7"/>
    <p:sldId id="361" r:id="rId8"/>
    <p:sldId id="365" r:id="rId9"/>
    <p:sldId id="364" r:id="rId10"/>
    <p:sldId id="366" r:id="rId11"/>
    <p:sldId id="389" r:id="rId12"/>
    <p:sldId id="390" r:id="rId13"/>
    <p:sldId id="391" r:id="rId14"/>
    <p:sldId id="381" r:id="rId15"/>
    <p:sldId id="382" r:id="rId16"/>
    <p:sldId id="388" r:id="rId17"/>
    <p:sldId id="393" r:id="rId18"/>
    <p:sldId id="394" r:id="rId19"/>
    <p:sldId id="385" r:id="rId20"/>
    <p:sldId id="386" r:id="rId21"/>
    <p:sldId id="387" r:id="rId22"/>
    <p:sldId id="395" r:id="rId23"/>
    <p:sldId id="33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88"/>
    <a:srgbClr val="8994BD"/>
    <a:srgbClr val="96A2D0"/>
    <a:srgbClr val="93BFF5"/>
    <a:srgbClr val="E6E6E6"/>
    <a:srgbClr val="3A6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77817" autoAdjust="0"/>
  </p:normalViewPr>
  <p:slideViewPr>
    <p:cSldViewPr snapToGrid="0">
      <p:cViewPr varScale="1">
        <p:scale>
          <a:sx n="70" d="100"/>
          <a:sy n="70" d="100"/>
        </p:scale>
        <p:origin x="102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BC71-470F-4178-8939-B7F43C998C3E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F53EF-5364-44E3-BFA2-84231755F7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老师，同学们，大家下午好。</a:t>
            </a:r>
          </a:p>
          <a:p>
            <a:r>
              <a:rPr lang="zh-CN" altLang="en-US" dirty="0"/>
              <a:t>我们是生物分离工程第十组，今天我们汇报的主题是“抗体药物偶联物（以下简称为</a:t>
            </a:r>
            <a:r>
              <a:rPr lang="en-US" altLang="zh-CN" dirty="0"/>
              <a:t>ADC</a:t>
            </a:r>
            <a:r>
              <a:rPr lang="zh-CN" altLang="en-US" dirty="0"/>
              <a:t>）的纯化” 。</a:t>
            </a:r>
            <a:endParaRPr lang="en-US" altLang="zh-CN" dirty="0"/>
          </a:p>
          <a:p>
            <a:r>
              <a:rPr lang="zh-CN" altLang="en-US" dirty="0"/>
              <a:t>我是本次的汇报人吕启蒙，此处是我们本次汇报的工作安排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018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我们的汇报将围绕这几个方面展开：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zh-CN" altLang="en-US" dirty="0"/>
              <a:t>首先，我们会介绍</a:t>
            </a:r>
            <a:r>
              <a:rPr lang="en-US" altLang="zh-CN" dirty="0"/>
              <a:t>ADC</a:t>
            </a:r>
            <a:r>
              <a:rPr lang="zh-CN" altLang="en-US" dirty="0"/>
              <a:t>的基本性质 。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其次，梳理</a:t>
            </a:r>
            <a:r>
              <a:rPr lang="en-US" altLang="zh-CN" dirty="0"/>
              <a:t>ADC</a:t>
            </a:r>
            <a:r>
              <a:rPr lang="zh-CN" altLang="en-US" dirty="0"/>
              <a:t>典型的制造工艺 。剖析我们分离所要解决的问题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接着，也是本此汇报的重点，我们会介绍目前几种关键的分离方法 。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最后，结合课程所学习内容，我们尝试提出一种基于</a:t>
            </a:r>
            <a:r>
              <a:rPr lang="en-US" altLang="zh-CN" dirty="0"/>
              <a:t>TFF</a:t>
            </a:r>
            <a:r>
              <a:rPr lang="zh-CN" altLang="en-US" dirty="0"/>
              <a:t>技术的优化思路。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84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 首先是我们的第一部分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17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ADC</a:t>
            </a:r>
            <a:r>
              <a:rPr lang="zh-CN" altLang="en-US" dirty="0"/>
              <a:t>，全称抗体偶联药物，后续读</a:t>
            </a:r>
            <a:r>
              <a:rPr lang="en-US" altLang="zh-CN" dirty="0"/>
              <a:t>ppt</a:t>
            </a:r>
          </a:p>
          <a:p>
            <a:endParaRPr lang="en-US" altLang="zh-CN" dirty="0"/>
          </a:p>
          <a:p>
            <a:r>
              <a:rPr lang="zh-CN" altLang="en-US" dirty="0"/>
              <a:t>如图中所示，其结构上我们可以大致总结为三部分，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zh-CN" altLang="en-US" b="1" dirty="0"/>
              <a:t>抗体（</a:t>
            </a:r>
            <a:r>
              <a:rPr lang="en-US" altLang="zh-CN" b="1" dirty="0" err="1"/>
              <a:t>mAb</a:t>
            </a:r>
            <a:r>
              <a:rPr lang="zh-CN" altLang="en-US" b="1" dirty="0"/>
              <a:t>）</a:t>
            </a:r>
            <a:r>
              <a:rPr lang="zh-CN" altLang="en-US" dirty="0"/>
              <a:t>：作为“制导系统”，靶向肿瘤细胞 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小分子细胞毒素（</a:t>
            </a:r>
            <a:r>
              <a:rPr lang="en-US" altLang="zh-CN" b="1" dirty="0"/>
              <a:t>Payload</a:t>
            </a:r>
            <a:r>
              <a:rPr lang="zh-CN" altLang="en-US" b="1" dirty="0"/>
              <a:t>）</a:t>
            </a:r>
            <a:r>
              <a:rPr lang="zh-CN" altLang="en-US" dirty="0"/>
              <a:t>：作为“弹头”，具有超高毒性 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连接子（</a:t>
            </a:r>
            <a:r>
              <a:rPr lang="en-US" altLang="zh-CN" b="1" dirty="0"/>
              <a:t>Linker</a:t>
            </a:r>
            <a:r>
              <a:rPr lang="zh-CN" altLang="en-US" b="1" dirty="0"/>
              <a:t>）</a:t>
            </a:r>
            <a:r>
              <a:rPr lang="zh-CN" altLang="en-US" dirty="0"/>
              <a:t>：将两者连接起来，需在血浆中稳定，入胞后释放药物 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它的核心应用就是</a:t>
            </a:r>
            <a:r>
              <a:rPr lang="zh-CN" altLang="en-US" b="1" dirty="0"/>
              <a:t>肿瘤治疗</a:t>
            </a:r>
            <a:r>
              <a:rPr lang="zh-CN" altLang="en-US" dirty="0"/>
              <a:t>，作为一种靶向癌症疗法，利用抗体的特异性像“生物导弹”一样精准识别肿瘤细胞，并将高效的细胞毒素递送至其内部进行杀伤，实现对癌细胞的精准杀伤，同时降低对健康组织的副作用。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410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在正式介绍</a:t>
            </a:r>
            <a:r>
              <a:rPr lang="en-US" altLang="zh-CN" dirty="0"/>
              <a:t>ADC</a:t>
            </a:r>
            <a:r>
              <a:rPr lang="zh-CN" altLang="en-US" dirty="0"/>
              <a:t>的合成纯化之前，我们先了解它的前体物质</a:t>
            </a:r>
            <a:r>
              <a:rPr lang="en-US" altLang="zh-CN" dirty="0" err="1"/>
              <a:t>mAb</a:t>
            </a:r>
            <a:r>
              <a:rPr lang="zh-CN" altLang="en-US" dirty="0"/>
              <a:t>是如何制备的：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下面内容复述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479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接下来，是</a:t>
            </a:r>
            <a:r>
              <a:rPr lang="en-US" altLang="zh-CN" dirty="0"/>
              <a:t>ADC</a:t>
            </a:r>
            <a:r>
              <a:rPr lang="zh-CN" altLang="en-US" dirty="0"/>
              <a:t>的合成纯化流程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然后读</a:t>
            </a:r>
            <a:r>
              <a:rPr lang="en-US" altLang="zh-CN" dirty="0"/>
              <a:t>ppt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mAb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先经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进行缓冲液置换或稀释，将体系调整为适配后续反应的状态。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mAb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进行修饰（如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TCEP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还原）得到抗体中间体，与细胞毒性载荷偶联后生成粗制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粗制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可通过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直接纯化，或经色谱（如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HIC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膜色谱）处理纯化。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最终再经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完成缓冲液置换与制剂调配，得到成品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313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在了解了基本的制作工艺后，我们分离纯化要解决的就是以下几个问题：</a:t>
            </a:r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分离不同药物抗体比（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）的组分：生产得到的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通常是包含不同数量药物分子的抗体混合物（例如，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DAR=0,2,4,6,8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的混合物）。这个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值是影响药物疗效和安全性的关键质量属性：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过高的组分可能导致聚集和体内清除过快，影响安全性和药效；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过低的组分药效不足。</a:t>
            </a:r>
          </a:p>
          <a:p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去除聚集体：在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的生产和纯化过程中，蛋白质可能会形成聚集体。这些聚集体是一个主要的制造难题，因为它会促进免疫原性，可能导致严重的不良反应。</a:t>
            </a:r>
          </a:p>
          <a:p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清除游离的药物连接子及相关杂质：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所携带的小分子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有效载荷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payload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）通常具有极高的细胞毒性。因此，在偶联反应后，任何残留的、未结合到抗体上的游离药物连接子都必须被彻底清除，以确保最终药品的安全性。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999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569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表格里面整合的几种用于</a:t>
            </a:r>
            <a:r>
              <a:rPr lang="en-US" altLang="zh-CN" dirty="0"/>
              <a:t>ADC</a:t>
            </a:r>
            <a:r>
              <a:rPr lang="zh-CN" altLang="en-US" dirty="0"/>
              <a:t>纯化的方法，并罗列了他们的优点和缺点</a:t>
            </a:r>
            <a:endParaRPr lang="en-US" altLang="zh-CN" dirty="0"/>
          </a:p>
          <a:p>
            <a:r>
              <a:rPr lang="zh-CN" altLang="en-US" dirty="0"/>
              <a:t>我们将围绕其中几种介绍他们的基本操作方法，使用设备及评价分离效果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061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第一种是</a:t>
            </a:r>
            <a:r>
              <a:rPr lang="en-US" altLang="zh-CN" dirty="0"/>
              <a:t>TFF</a:t>
            </a:r>
          </a:p>
          <a:p>
            <a:r>
              <a:rPr lang="zh-CN" altLang="en-US" dirty="0"/>
              <a:t>首先是整个设备的组织架构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566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这个实验的</a:t>
            </a:r>
            <a:r>
              <a:rPr lang="zh-CN" altLang="en-US" b="1" dirty="0"/>
              <a:t>目标</a:t>
            </a:r>
            <a:r>
              <a:rPr lang="zh-CN" altLang="en-US" dirty="0"/>
              <a:t>是模拟测试</a:t>
            </a:r>
            <a:r>
              <a:rPr lang="en-US" altLang="zh-CN" dirty="0"/>
              <a:t>TFF</a:t>
            </a:r>
            <a:r>
              <a:rPr lang="zh-CN" altLang="en-US" dirty="0"/>
              <a:t>清除</a:t>
            </a:r>
            <a:r>
              <a:rPr lang="en-US" altLang="zh-CN" dirty="0"/>
              <a:t>DMSO</a:t>
            </a:r>
            <a:r>
              <a:rPr lang="zh-CN" altLang="en-US" dirty="0"/>
              <a:t>等</a:t>
            </a:r>
            <a:r>
              <a:rPr lang="en-US" altLang="zh-CN" dirty="0"/>
              <a:t>5</a:t>
            </a:r>
            <a:r>
              <a:rPr lang="zh-CN" altLang="en-US" dirty="0"/>
              <a:t>种小分子杂质的能力。</a:t>
            </a:r>
            <a:endParaRPr lang="en-US" altLang="zh-CN" dirty="0"/>
          </a:p>
          <a:p>
            <a:r>
              <a:rPr lang="en-US" altLang="zh-CN" dirty="0"/>
              <a:t>Psi, pound square inches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705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横坐标是渗滤体积，纵坐标是杂质浓度的对数 。 结果非常清晰：所有杂质的浓度都随渗滤体积的增加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992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第二种是疏水作用层析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TFF</a:t>
            </a:r>
            <a:r>
              <a:rPr lang="zh-CN" altLang="en-US" dirty="0"/>
              <a:t>解决不了</a:t>
            </a:r>
            <a:r>
              <a:rPr lang="en-US" altLang="zh-CN" dirty="0"/>
              <a:t>DAR</a:t>
            </a:r>
            <a:r>
              <a:rPr lang="zh-CN" altLang="en-US" dirty="0"/>
              <a:t>问题。对于这一个问题，我们就可以使用</a:t>
            </a:r>
            <a:r>
              <a:rPr lang="en-US" altLang="zh-CN" dirty="0"/>
              <a:t>HIC</a:t>
            </a:r>
            <a:r>
              <a:rPr lang="zh-CN" altLang="en-US" dirty="0"/>
              <a:t>，</a:t>
            </a:r>
            <a:r>
              <a:rPr lang="en-US" altLang="zh-CN" dirty="0"/>
              <a:t>HIC</a:t>
            </a:r>
            <a:r>
              <a:rPr lang="zh-CN" altLang="en-US" dirty="0"/>
              <a:t>的原理是：</a:t>
            </a:r>
            <a:r>
              <a:rPr lang="en-US" altLang="zh-CN" dirty="0"/>
              <a:t>ADC</a:t>
            </a:r>
            <a:r>
              <a:rPr lang="zh-CN" altLang="en-US" dirty="0"/>
              <a:t>偶联的药物越多，疏水性就越强。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705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我们看到，疏水性最弱的</a:t>
            </a:r>
            <a:r>
              <a:rPr lang="en-US" altLang="zh-CN" b="1" dirty="0"/>
              <a:t>DAR=0</a:t>
            </a:r>
            <a:r>
              <a:rPr lang="zh-CN" altLang="en-US" dirty="0"/>
              <a:t>（裸抗体） ，最先在</a:t>
            </a:r>
            <a:r>
              <a:rPr lang="en-US" altLang="zh-CN" dirty="0"/>
              <a:t>6.68</a:t>
            </a:r>
            <a:r>
              <a:rPr lang="zh-CN" altLang="en-US" dirty="0"/>
              <a:t>分钟被洗脱出来。随着洗脱液浓度增加，疏水性更强的</a:t>
            </a:r>
            <a:r>
              <a:rPr lang="en-US" altLang="zh-CN" b="1" dirty="0"/>
              <a:t>DAR=1</a:t>
            </a:r>
            <a:r>
              <a:rPr lang="zh-CN" altLang="en-US" dirty="0"/>
              <a:t>在</a:t>
            </a:r>
            <a:r>
              <a:rPr lang="en-US" altLang="zh-CN" dirty="0"/>
              <a:t>44</a:t>
            </a:r>
            <a:r>
              <a:rPr lang="zh-CN" altLang="en-US" dirty="0"/>
              <a:t>分钟出峰，疏水性最强的</a:t>
            </a:r>
            <a:r>
              <a:rPr lang="en-US" altLang="zh-CN" b="1" dirty="0"/>
              <a:t>DAR=2</a:t>
            </a:r>
            <a:r>
              <a:rPr lang="zh-CN" altLang="en-US" dirty="0"/>
              <a:t>在</a:t>
            </a:r>
            <a:r>
              <a:rPr lang="en-US" altLang="zh-CN" dirty="0"/>
              <a:t>55.70</a:t>
            </a:r>
            <a:r>
              <a:rPr lang="zh-CN" altLang="en-US" dirty="0"/>
              <a:t>分钟才出峰 。 </a:t>
            </a:r>
            <a:r>
              <a:rPr lang="zh-CN" altLang="en-US" b="1" dirty="0"/>
              <a:t>结论</a:t>
            </a:r>
            <a:r>
              <a:rPr lang="zh-CN" altLang="en-US" dirty="0"/>
              <a:t>：</a:t>
            </a:r>
            <a:r>
              <a:rPr lang="en-US" altLang="zh-CN" dirty="0"/>
              <a:t>HIC</a:t>
            </a:r>
            <a:r>
              <a:rPr lang="zh-CN" altLang="en-US" dirty="0"/>
              <a:t>成功地根据疏水性差异，分离了不同</a:t>
            </a:r>
            <a:r>
              <a:rPr lang="en-US" altLang="zh-CN" dirty="0"/>
              <a:t>DAR</a:t>
            </a:r>
            <a:r>
              <a:rPr lang="zh-CN" altLang="en-US" dirty="0"/>
              <a:t>组分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897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回顾一下之前提到的</a:t>
            </a:r>
            <a:r>
              <a:rPr lang="en-US" altLang="zh-CN" dirty="0"/>
              <a:t>ADC</a:t>
            </a:r>
            <a:r>
              <a:rPr lang="zh-CN" altLang="en-US" dirty="0"/>
              <a:t>纯化流程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517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F53EF-5364-44E3-BFA2-84231755F7E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44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1865-B79A-43E4-B218-34456B6B12C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435424" y="5432466"/>
            <a:ext cx="5321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第十组</a:t>
            </a:r>
            <a:endParaRPr lang="en-US" altLang="zh-CN" sz="2400" b="1" dirty="0"/>
          </a:p>
          <a:p>
            <a:pPr algn="ctr"/>
            <a:r>
              <a:rPr lang="zh-CN" altLang="en-US" sz="2400" b="1" dirty="0"/>
              <a:t>资料汇总，汇报：吕启蒙</a:t>
            </a:r>
          </a:p>
          <a:p>
            <a:pPr algn="ctr"/>
            <a:r>
              <a:rPr lang="en-US" altLang="zh-CN" sz="2400" b="1" dirty="0"/>
              <a:t>PPT</a:t>
            </a:r>
            <a:r>
              <a:rPr lang="zh-CN" altLang="en-US" sz="2400" b="1" dirty="0"/>
              <a:t>制作，答疑：马唐逸农</a:t>
            </a:r>
          </a:p>
        </p:txBody>
      </p:sp>
      <p:sp>
        <p:nvSpPr>
          <p:cNvPr id="21" name="矩形 20"/>
          <p:cNvSpPr/>
          <p:nvPr/>
        </p:nvSpPr>
        <p:spPr>
          <a:xfrm>
            <a:off x="1249998" y="2952588"/>
            <a:ext cx="9692005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6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抗体药物偶联物</a:t>
            </a:r>
            <a:r>
              <a:rPr lang="en-US" altLang="zh-CN" sz="56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(ADC)</a:t>
            </a:r>
            <a:r>
              <a:rPr lang="zh-CN" altLang="en-US" sz="56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的纯化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2935" y="0"/>
            <a:ext cx="3022600" cy="6904355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020" y="-132715"/>
            <a:ext cx="3947160" cy="1390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06475" y="2668905"/>
            <a:ext cx="2254885" cy="929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矩形 5"/>
          <p:cNvSpPr/>
          <p:nvPr/>
        </p:nvSpPr>
        <p:spPr>
          <a:xfrm>
            <a:off x="1194435" y="3941445"/>
            <a:ext cx="1878965" cy="4641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Arial" panose="020B0604020202020204" pitchFamily="34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 flipH="1">
            <a:off x="3311236" y="2927691"/>
            <a:ext cx="254121" cy="405405"/>
            <a:chOff x="872368" y="2932651"/>
            <a:chExt cx="289004" cy="461055"/>
          </a:xfrm>
          <a:solidFill>
            <a:schemeClr val="bg1">
              <a:alpha val="24000"/>
            </a:schemeClr>
          </a:solidFill>
        </p:grpSpPr>
        <p:sp>
          <p:nvSpPr>
            <p:cNvPr id="12" name="梯形 11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梯形 13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473710" y="3738245"/>
            <a:ext cx="3320415" cy="76200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>
            <p:custDataLst>
              <p:tags r:id="rId1"/>
            </p:custDataLst>
          </p:nvPr>
        </p:nvGrpSpPr>
        <p:grpSpPr>
          <a:xfrm>
            <a:off x="5306907" y="857149"/>
            <a:ext cx="5686546" cy="1014730"/>
            <a:chOff x="5399714" y="1249447"/>
            <a:chExt cx="5686546" cy="1014730"/>
          </a:xfrm>
        </p:grpSpPr>
        <p:grpSp>
          <p:nvGrpSpPr>
            <p:cNvPr id="37" name="组合 36"/>
            <p:cNvGrpSpPr/>
            <p:nvPr/>
          </p:nvGrpSpPr>
          <p:grpSpPr>
            <a:xfrm>
              <a:off x="5399714" y="1249447"/>
              <a:ext cx="770179" cy="1014730"/>
              <a:chOff x="5399714" y="1249447"/>
              <a:chExt cx="770179" cy="1014730"/>
            </a:xfrm>
          </p:grpSpPr>
          <p:sp>
            <p:nvSpPr>
              <p:cNvPr id="18" name="矩形: 对角圆角 17"/>
              <p:cNvSpPr/>
              <p:nvPr>
                <p:custDataLst>
                  <p:tags r:id="rId15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473607" y="1249447"/>
                <a:ext cx="696286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36" name="文本框 35"/>
            <p:cNvSpPr txBox="1"/>
            <p:nvPr>
              <p:custDataLst>
                <p:tags r:id="rId14"/>
              </p:custDataLst>
            </p:nvPr>
          </p:nvSpPr>
          <p:spPr>
            <a:xfrm>
              <a:off x="638842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4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ADC</a:t>
              </a:r>
              <a:r>
                <a:rPr lang="zh-CN" altLang="en-US" sz="4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的基本性质</a:t>
              </a:r>
            </a:p>
          </p:txBody>
        </p:sp>
      </p:grpSp>
      <p:grpSp>
        <p:nvGrpSpPr>
          <p:cNvPr id="20" name="组合 19"/>
          <p:cNvGrpSpPr/>
          <p:nvPr>
            <p:custDataLst>
              <p:tags r:id="rId2"/>
            </p:custDataLst>
          </p:nvPr>
        </p:nvGrpSpPr>
        <p:grpSpPr>
          <a:xfrm>
            <a:off x="5306907" y="2230915"/>
            <a:ext cx="5686546" cy="1014730"/>
            <a:chOff x="5399714" y="1249447"/>
            <a:chExt cx="5686546" cy="1014730"/>
          </a:xfrm>
        </p:grpSpPr>
        <p:grpSp>
          <p:nvGrpSpPr>
            <p:cNvPr id="21" name="组合 20"/>
            <p:cNvGrpSpPr/>
            <p:nvPr/>
          </p:nvGrpSpPr>
          <p:grpSpPr>
            <a:xfrm>
              <a:off x="5399714" y="1249447"/>
              <a:ext cx="770179" cy="1014730"/>
              <a:chOff x="5399714" y="1249447"/>
              <a:chExt cx="770179" cy="1014730"/>
            </a:xfrm>
          </p:grpSpPr>
          <p:sp>
            <p:nvSpPr>
              <p:cNvPr id="23" name="矩形: 对角圆角 22"/>
              <p:cNvSpPr/>
              <p:nvPr>
                <p:custDataLst>
                  <p:tags r:id="rId12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473607" y="1249447"/>
                <a:ext cx="696286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22" name="文本框 21"/>
            <p:cNvSpPr txBox="1"/>
            <p:nvPr>
              <p:custDataLst>
                <p:tags r:id="rId11"/>
              </p:custDataLst>
            </p:nvPr>
          </p:nvSpPr>
          <p:spPr>
            <a:xfrm>
              <a:off x="638842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典型制造工艺</a:t>
              </a:r>
            </a:p>
          </p:txBody>
        </p:sp>
      </p:grpSp>
      <p:grpSp>
        <p:nvGrpSpPr>
          <p:cNvPr id="25" name="组合 24"/>
          <p:cNvGrpSpPr/>
          <p:nvPr>
            <p:custDataLst>
              <p:tags r:id="rId3"/>
            </p:custDataLst>
          </p:nvPr>
        </p:nvGrpSpPr>
        <p:grpSpPr>
          <a:xfrm>
            <a:off x="5306907" y="3604681"/>
            <a:ext cx="6797675" cy="1014730"/>
            <a:chOff x="5399714" y="1249447"/>
            <a:chExt cx="6797675" cy="1014730"/>
          </a:xfrm>
        </p:grpSpPr>
        <p:grpSp>
          <p:nvGrpSpPr>
            <p:cNvPr id="26" name="组合 25"/>
            <p:cNvGrpSpPr/>
            <p:nvPr/>
          </p:nvGrpSpPr>
          <p:grpSpPr>
            <a:xfrm>
              <a:off x="5399714" y="1249447"/>
              <a:ext cx="770179" cy="1014730"/>
              <a:chOff x="5399714" y="1249447"/>
              <a:chExt cx="770179" cy="1014730"/>
            </a:xfrm>
          </p:grpSpPr>
          <p:sp>
            <p:nvSpPr>
              <p:cNvPr id="28" name="矩形: 对角圆角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文本框 2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3607" y="1249447"/>
                <a:ext cx="696286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27" name="文本框 26"/>
            <p:cNvSpPr txBox="1"/>
            <p:nvPr>
              <p:custDataLst>
                <p:tags r:id="rId8"/>
              </p:custDataLst>
            </p:nvPr>
          </p:nvSpPr>
          <p:spPr>
            <a:xfrm>
              <a:off x="6388409" y="1380257"/>
              <a:ext cx="5808980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分离方法介绍</a:t>
              </a:r>
            </a:p>
          </p:txBody>
        </p:sp>
      </p:grpSp>
      <p:grpSp>
        <p:nvGrpSpPr>
          <p:cNvPr id="30" name="组合 29"/>
          <p:cNvGrpSpPr/>
          <p:nvPr>
            <p:custDataLst>
              <p:tags r:id="rId4"/>
            </p:custDataLst>
          </p:nvPr>
        </p:nvGrpSpPr>
        <p:grpSpPr>
          <a:xfrm>
            <a:off x="5306907" y="4978447"/>
            <a:ext cx="5686546" cy="1014730"/>
            <a:chOff x="5399714" y="1249447"/>
            <a:chExt cx="5686546" cy="1014730"/>
          </a:xfrm>
        </p:grpSpPr>
        <p:grpSp>
          <p:nvGrpSpPr>
            <p:cNvPr id="31" name="组合 30"/>
            <p:cNvGrpSpPr/>
            <p:nvPr/>
          </p:nvGrpSpPr>
          <p:grpSpPr>
            <a:xfrm>
              <a:off x="5399714" y="1249447"/>
              <a:ext cx="770179" cy="1014730"/>
              <a:chOff x="5399714" y="1249447"/>
              <a:chExt cx="770179" cy="1014730"/>
            </a:xfrm>
          </p:grpSpPr>
          <p:sp>
            <p:nvSpPr>
              <p:cNvPr id="33" name="矩形: 对角圆角 32"/>
              <p:cNvSpPr/>
              <p:nvPr>
                <p:custDataLst>
                  <p:tags r:id="rId6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473607" y="1249447"/>
                <a:ext cx="696286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32" name="文本框 31"/>
            <p:cNvSpPr txBox="1"/>
            <p:nvPr>
              <p:custDataLst>
                <p:tags r:id="rId5"/>
              </p:custDataLst>
            </p:nvPr>
          </p:nvSpPr>
          <p:spPr>
            <a:xfrm>
              <a:off x="638842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优化方案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1376045" y="3258820"/>
            <a:ext cx="9521825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8800" spc="500" dirty="0">
                <a:solidFill>
                  <a:srgbClr val="003F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ADC</a:t>
            </a:r>
            <a:r>
              <a:rPr lang="zh-CN" altLang="en-US" sz="8800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的基本信息</a:t>
            </a:r>
            <a:endParaRPr lang="zh-CN" altLang="en-US" sz="8800" spc="5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899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的基本性质</a:t>
            </a:r>
            <a:endParaRPr lang="zh-CN" altLang="en-US" sz="2800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22845" y="1130300"/>
            <a:ext cx="40214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antibody–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drugconjugates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）抗体药物偶联物，由靶向肿瘤特异性抗原或者靶向肿瘤相关抗原的单克隆抗体，与不同数目的小分子细胞毒素通过连接子偶联而成</a:t>
            </a:r>
          </a:p>
          <a:p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的结构可分为五个部分：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mAb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、细胞毒性有效负载、接头、附件和缀合位点</a:t>
            </a: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的应用：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核心应用场景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肿瘤治疗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 descr="jssc7408-fig-0001-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" y="2015490"/>
            <a:ext cx="7289800" cy="31051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>
            <a:clrChange>
              <a:clrFrom>
                <a:srgbClr val="F9FAFB">
                  <a:alpha val="100000"/>
                </a:srgbClr>
              </a:clrFrom>
              <a:clrTo>
                <a:srgbClr val="F9FA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84925" y="1903730"/>
            <a:ext cx="1137920" cy="11747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>
            <a:clrChange>
              <a:clrFrom>
                <a:srgbClr val="F9FAFB">
                  <a:alpha val="100000"/>
                </a:srgbClr>
              </a:clrFrom>
              <a:clrTo>
                <a:srgbClr val="F9FA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8435" y="2853690"/>
            <a:ext cx="1996440" cy="5321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>
            <a:clrChange>
              <a:clrFrom>
                <a:srgbClr val="F9FAFB">
                  <a:alpha val="100000"/>
                </a:srgbClr>
              </a:clrFrom>
              <a:clrTo>
                <a:srgbClr val="F9FA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77870" y="4744085"/>
            <a:ext cx="2708275" cy="54356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>
            <a:clrChange>
              <a:clrFrom>
                <a:srgbClr val="F9FAFB">
                  <a:alpha val="100000"/>
                </a:srgbClr>
              </a:clrFrom>
              <a:clrTo>
                <a:srgbClr val="F9FA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28690" y="4557395"/>
            <a:ext cx="1451610" cy="91694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>
            <a:clrChange>
              <a:clrFrom>
                <a:srgbClr val="F9FAFB">
                  <a:alpha val="100000"/>
                </a:srgbClr>
              </a:clrFrom>
              <a:clrTo>
                <a:srgbClr val="F9FAF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87170" y="5193030"/>
            <a:ext cx="1820545" cy="969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2303457" y="3258880"/>
            <a:ext cx="7585087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8800" spc="500" dirty="0">
                <a:solidFill>
                  <a:srgbClr val="003F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典型制造工艺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899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二、典型制造工艺</a:t>
            </a:r>
            <a:endParaRPr lang="zh-CN" altLang="en-US" sz="2800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 descr="大纲.pdf 和另外 1 个页面 - 用户配置 1 - Microsoft​ Edge 2025_10_22 13_53_29"/>
          <p:cNvPicPr>
            <a:picLocks noChangeAspect="1"/>
          </p:cNvPicPr>
          <p:nvPr/>
        </p:nvPicPr>
        <p:blipFill>
          <a:blip r:embed="rId4"/>
          <a:srcRect l="28039" t="32398" r="29243" b="22787"/>
          <a:stretch>
            <a:fillRect/>
          </a:stretch>
        </p:blipFill>
        <p:spPr>
          <a:xfrm>
            <a:off x="403860" y="1683385"/>
            <a:ext cx="6318885" cy="39363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865620" y="2228215"/>
            <a:ext cx="4217670" cy="2847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buFont typeface="Wingdings" panose="05000000000000000000" charset="0"/>
              <a:buNone/>
            </a:pPr>
            <a:r>
              <a:rPr lang="zh-CN" altLang="en-US"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单克隆抗体的完整生产流程</a:t>
            </a:r>
          </a:p>
          <a:p>
            <a:pPr indent="0" algn="just">
              <a:buFont typeface="Wingdings" panose="05000000000000000000" charset="0"/>
              <a:buNone/>
            </a:pPr>
            <a:endParaRPr lang="zh-CN" altLang="en-US" sz="20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从细胞库启动细胞扩增</a:t>
            </a: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经生物反应器大规模培养表达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mAb</a:t>
            </a: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通过层析、切向流过滤（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）等步骤纯化</a:t>
            </a: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得到符合质量标准的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899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二、典型制造工艺</a:t>
            </a:r>
            <a:endParaRPr lang="zh-CN" altLang="en-US" sz="2800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740" y="1662065"/>
            <a:ext cx="8224520" cy="47815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8E1FE8-F98D-4769-87D1-D67B86337EAB}"/>
              </a:ext>
            </a:extLst>
          </p:cNvPr>
          <p:cNvSpPr txBox="1"/>
          <p:nvPr/>
        </p:nvSpPr>
        <p:spPr>
          <a:xfrm>
            <a:off x="720436" y="995805"/>
            <a:ext cx="2990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ADC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的合成纯化流程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899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二、典型制造工艺</a:t>
            </a:r>
            <a:endParaRPr lang="zh-CN" altLang="en-US" sz="2800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2428" y="1108364"/>
            <a:ext cx="2258478" cy="332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分离需解决的问题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929A82-9340-4F09-868B-5D41090841F7}"/>
              </a:ext>
            </a:extLst>
          </p:cNvPr>
          <p:cNvSpPr txBox="1"/>
          <p:nvPr/>
        </p:nvSpPr>
        <p:spPr>
          <a:xfrm>
            <a:off x="526473" y="1948934"/>
            <a:ext cx="2258478" cy="174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D0CA946-ADD5-4665-9517-87F935765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73" y="1631561"/>
            <a:ext cx="3548792" cy="23833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925B0C5-AF6E-4435-8BFD-1C4D186F4E3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321200" y="4014897"/>
            <a:ext cx="3549600" cy="23832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BB665CF-11D0-4EE3-B2BD-6CF04C6CC643}"/>
              </a:ext>
            </a:extLst>
          </p:cNvPr>
          <p:cNvSpPr txBox="1"/>
          <p:nvPr/>
        </p:nvSpPr>
        <p:spPr>
          <a:xfrm>
            <a:off x="525666" y="4437529"/>
            <a:ext cx="354959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问题一：</a:t>
            </a:r>
            <a:endParaRPr lang="en-US" altLang="zh-CN" sz="2400" b="1" dirty="0"/>
          </a:p>
          <a:p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分离不同药物抗体比（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）的组分</a:t>
            </a: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F353A0F-D98E-4A01-8506-5FBE095562B0}"/>
              </a:ext>
            </a:extLst>
          </p:cNvPr>
          <p:cNvSpPr txBox="1"/>
          <p:nvPr/>
        </p:nvSpPr>
        <p:spPr>
          <a:xfrm>
            <a:off x="4321201" y="2043953"/>
            <a:ext cx="3549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问题二：</a:t>
            </a:r>
            <a:endParaRPr lang="en-US" altLang="zh-CN" sz="2400" b="1" dirty="0"/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去除形成的蛋白聚集体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BA0432-E243-4D72-B266-8436C571F3DA}"/>
              </a:ext>
            </a:extLst>
          </p:cNvPr>
          <p:cNvSpPr txBox="1"/>
          <p:nvPr/>
        </p:nvSpPr>
        <p:spPr>
          <a:xfrm>
            <a:off x="8115927" y="4437055"/>
            <a:ext cx="339803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问题三：</a:t>
            </a:r>
            <a:endParaRPr lang="en-US" altLang="zh-CN" sz="2400" b="1" dirty="0"/>
          </a:p>
          <a:p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清除游离的药物连接子及相关杂质</a:t>
            </a:r>
            <a:endParaRPr lang="en-US" altLang="zh-CN" sz="2000" dirty="0"/>
          </a:p>
          <a:p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399126F-4E3E-4282-BBD2-160826A3FCD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115927" y="1631561"/>
            <a:ext cx="3549600" cy="238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1383030" y="3258820"/>
            <a:ext cx="10591800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8800" spc="500" dirty="0">
                <a:solidFill>
                  <a:srgbClr val="003F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分离方法介绍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899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三、分离方法介绍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12725" y="1349375"/>
            <a:ext cx="3945255" cy="464121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FFC7F54-1521-464C-96DE-46CC1905A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937489"/>
            <a:ext cx="11765280" cy="576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6415" y="1028065"/>
            <a:ext cx="10833735" cy="2980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TFF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系统组成：蠕动泵、带搅拌的料液罐（反应器）、压力传感器（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P1, P2, P3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）、渗透液收集罐以及连接管路。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膜包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核心分离元件为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Millipore Pellicon-3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Ultracel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（再生纤维素）膜包。该膜包的截留分子量（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MWCO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kDa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，膜面积为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88 cm</a:t>
            </a:r>
            <a:r>
              <a:rPr lang="en-US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²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，采用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型筛网。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抗体与缓冲液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使用了两种不同的单克隆抗体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mAb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34C3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AB095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。渗滤（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）缓冲液为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 mM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组氨酸缓冲液（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 6.0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65225" y="269240"/>
            <a:ext cx="793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三、分离方法介绍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切向流过滤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(TFF)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20" y="3377565"/>
            <a:ext cx="8274050" cy="2846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65225" y="269240"/>
            <a:ext cx="793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三、分离方法介绍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切向流过滤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(TFF)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7015" y="2405380"/>
            <a:ext cx="4502785" cy="1360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目标分离物（小分子杂质）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实验中向抗体溶液中加入了五种代表性的工艺杂质：</a:t>
            </a:r>
          </a:p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溶剂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二甲基亚砜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(DMSO)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N,N-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二甲基乙酰胺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(DMA)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反应相关物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氧化三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(2-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羧乙基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膦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(TCEP=O)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、乙二胺四乙酸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(EDTA)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N-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乙酰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-L-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半胱氨酸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(NAC)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96790" y="988060"/>
            <a:ext cx="6970395" cy="5993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系统准备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每次运行前，使用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0.1 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的氢氧化钠对整个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系统进行彻底的清洗和消毒，随后用纯水冲洗，并使用渗滤缓冲液进行平衡。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上样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将含有特定浓度小分子杂质的抗体溶液（约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 mL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）加入到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系统的反应器中，初始的蛋白膜载量为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113 g/m</a:t>
            </a:r>
            <a:r>
              <a:rPr lang="en-US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²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恒定体积渗滤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: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启动系统，在恒定体积、恒定跨膜压差的模式下运行。泵驱动料液在膜表面高速切向流动，标准操作条件设定为：切向流速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300 L·m</a:t>
            </a:r>
            <a:r>
              <a:rPr lang="en-US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⁻²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·hr</a:t>
            </a:r>
            <a:r>
              <a:rPr lang="en-US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⁻¹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44 mL/min)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跨膜压差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(TMP) : 18-20 psi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温度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室温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21</a:t>
            </a:r>
            <a:r>
              <a:rPr lang="en-US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在操作过程中，渗透液不断穿过膜被收集，同时系统会自动补充新鲜的渗滤缓冲液，以精确维持反应器中料液体积不变。整个过程通常进行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至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个渗滤体积（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Diavolumes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DV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取样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在第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等不同的渗滤体积点，分别从截留液和渗透液出口采集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mL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样品用于后续浓度分析。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浓度分析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使用经过验证的分析方法（如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HPLC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LC-MS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）对采集样品中五种小分子杂质的精确浓度进行定量检测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65225" y="269240"/>
            <a:ext cx="793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三、分离方法介绍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切向流过滤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(TFF)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1195" y="982980"/>
            <a:ext cx="4852670" cy="57391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195060" y="1884045"/>
            <a:ext cx="486410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主要结果：杂质清除效率极高。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实验结果显示，所有五种小分子杂质的浓度均随渗滤体积数的增加呈现出线性下降。计算得出的筛分系数（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）在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0.85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至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0.99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之间，非常接近理论最大值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。这表明，该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工艺能够以近乎理想的状态高效清除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工艺中常见的各类小分子杂质。例如，对于初始浓度约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10%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DMA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DMSO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，经过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个渗滤体积的操作后，其残留浓度降低了超过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倍。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793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三、分离方法介绍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疏水作用层析（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HIC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7515" y="1208405"/>
            <a:ext cx="4502150" cy="5476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疏水作用层析（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HIC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分离纯化过程在一套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AKTAPure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层析系统上进行，具体步骤如下：</a:t>
            </a:r>
          </a:p>
          <a:p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样品准备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2.5mL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浓度为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20mg/mL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粗品溶液，与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2.5mL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的缓冲液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（高盐缓冲液）进行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1:1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混合。这一步是为了创造一个高盐环境，确保所有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组分在注入色谱柱后都能有效结合。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上样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将上述制备好的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5mL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样品混合液，注入到已经用缓冲液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预平衡好的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色谱柱中。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梯度洗脱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采用线性梯度进行洗脱。起始条件为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100%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的缓冲液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，然后逐渐增加缓冲液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（低盐、含有机溶剂的洗脱液）的比例。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922010" y="5266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365615" y="1239520"/>
            <a:ext cx="26085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蓝色（</a:t>
            </a:r>
            <a:r>
              <a:rPr lang="en-US" altLang="zh-CN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UV1_280</a:t>
            </a:r>
            <a:r>
              <a:rPr lang="zh-CN" altLang="en-US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：检测蛋白质（抗体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/ADC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）的信号峰，峰高反映组分浓度。</a:t>
            </a:r>
          </a:p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橙色（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Cond</a:t>
            </a:r>
            <a:r>
              <a:rPr lang="zh-CN" altLang="en-US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：电导率，反映洗脱液中盐浓度变化（离子交换色谱中，盐浓度决定吸附强度）。</a:t>
            </a:r>
          </a:p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绿色（</a:t>
            </a:r>
            <a:r>
              <a:rPr lang="en-US" altLang="zh-CN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ConcB</a:t>
            </a:r>
            <a:r>
              <a:rPr lang="zh-CN" altLang="en-US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：流动相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的浓度（梯度洗脱中，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相是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强洗脱成分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，如高盐溶液），绿色线上升表示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相浓度增加，推动样品洗脱</a:t>
            </a:r>
            <a:r>
              <a:rPr lang="zh-CN" altLang="en-US"/>
              <a:t>。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185" y="1953260"/>
            <a:ext cx="4193540" cy="3250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6415" y="1028065"/>
            <a:ext cx="6120765" cy="5476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557010" y="1096645"/>
            <a:ext cx="515683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偶联药物后电荷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疏水性改变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，与层析介质的相互作用强弱不同：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DAR=0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（裸抗体）相互作用最弱，最先被洗脱（盐浓度低时就被洗出）；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DAR=2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（偶联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个药物）相互作用最强，需要更高浓度的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强洗脱液（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相）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才能洗出（对应绿色线上升到一定程度后，该峰出现）</a:t>
            </a: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橙色曲线（电导率曲线）先下降再上升：当将样品注入到正在流动的初始高盐缓冲液（流动相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）中时，样品本身的溶剂环境和流动相的溶剂环境有微小差异（比如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、盐种类、添加剂等），会引起电导率检测器的瞬间扰动，从而产生一个快速的波动，也标志着您的样品团经进入了色谱柱。</a:t>
            </a: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" y="1123315"/>
            <a:ext cx="6431915" cy="49860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65225" y="269240"/>
            <a:ext cx="793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三、分离方法介绍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疏水作用层析（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HIC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793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三、分离方法介绍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离子交换层析（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IEC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0725" y="1487170"/>
            <a:ext cx="10437495" cy="5568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分离和检测完整定点抗体药物偶联物（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）的技术：强阳离子交换色谱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紫外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质谱（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SCX-UV-MS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用于评估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的整体特性，如药物分布和电荷异质性。</a:t>
            </a: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具体分离步骤和所用的设备材料：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超高效液相色谱系统，色谱柱，紫外（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）检测器，质谱（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MS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）检测器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流动相（缓冲液）：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 mM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乙酸铵，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 5.0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160 mM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乙酸铵，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 8.5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indent="0">
              <a:buFont typeface="Wingdings" panose="05000000000000000000" charset="0"/>
              <a:buNone/>
            </a:pP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色谱分离与洗脱步骤：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将样品注入色谱系统后，在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的柱温和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0.1 mL/min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的流速下进行分离。梯度从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40% 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相开始，在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分钟内线性增加至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98% 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相。洗脱完成后，系统会用高比例的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相清洗色谱柱，并重新平衡至初始条件，为下一次进样做准备。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793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三、分离方法介绍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离子交换层析（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IEC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98490" y="1445260"/>
            <a:ext cx="619125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分离方法的建立与重现性验证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操作步骤：为了验证分离方法的稳定性，将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样品（图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）和其来源的未偶联抗体（图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c, d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）分别连续进样两次。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过程监测：通过紫外检测器记录的色谱图显示，两次进样的出峰曲线几乎完全重叠，表明分离过程稳定可靠。同时观察到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（约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12-13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分钟）比未偶联抗体（约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13.5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分钟）更早从色谱柱中被洗脱出来，实现了有效分离。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t="2799"/>
          <a:stretch>
            <a:fillRect/>
          </a:stretch>
        </p:blipFill>
        <p:spPr>
          <a:xfrm>
            <a:off x="386715" y="1477010"/>
            <a:ext cx="5195570" cy="3418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793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三、分离方法介绍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离子交换层析（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IEC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529195" y="1779270"/>
            <a:ext cx="4662805" cy="3230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完整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的分离与在线质谱鉴定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操作步骤：将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样品注入系统进行分离。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过程监测：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UV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色谱图显示出一簇由多个峰组成的主峰。当这簇峰的组分流出紫外检测器后，立即被导入质谱仪进行实时分子量测定。对收集到的质谱信号进行去卷积处理（图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），获得了清晰的分子量信息，从而鉴定出含有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个或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个药物分子的不同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组分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6870" y="1779270"/>
            <a:ext cx="7172325" cy="3543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 txBox="1"/>
          <p:nvPr/>
        </p:nvSpPr>
        <p:spPr>
          <a:xfrm>
            <a:off x="4167031" y="1141229"/>
            <a:ext cx="3857936" cy="268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25000" kern="120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729345" y="4551218"/>
            <a:ext cx="6954705" cy="83128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9"/>
          <p:cNvSpPr txBox="1"/>
          <p:nvPr/>
        </p:nvSpPr>
        <p:spPr>
          <a:xfrm>
            <a:off x="1376045" y="3258820"/>
            <a:ext cx="9521825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8800" spc="500" dirty="0">
                <a:solidFill>
                  <a:srgbClr val="003F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</a:t>
            </a:r>
            <a:r>
              <a:rPr lang="zh-CN" altLang="en-US" sz="8800" spc="500" dirty="0">
                <a:solidFill>
                  <a:srgbClr val="003F8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</a:t>
            </a:r>
            <a:endParaRPr lang="zh-CN" altLang="en-US" sz="8800" spc="5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16692" y="242887"/>
            <a:ext cx="11758613" cy="6415088"/>
          </a:xfrm>
          <a:prstGeom prst="roundRect">
            <a:avLst>
              <a:gd name="adj" fmla="val 4863"/>
            </a:avLst>
          </a:prstGeom>
          <a:noFill/>
          <a:ln w="28575">
            <a:solidFill>
              <a:srgbClr val="003F8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899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四、优化方案</a:t>
            </a:r>
            <a:endParaRPr lang="zh-CN" altLang="en-US" sz="2800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5985" y="1184910"/>
            <a:ext cx="103022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Font typeface="Wingdings" panose="05000000000000000000" charset="0"/>
              <a:buNone/>
            </a:pPr>
            <a:r>
              <a:rPr lang="zh-CN" altLang="en-US"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典型的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纯化流程</a:t>
            </a:r>
          </a:p>
          <a:p>
            <a:pPr indent="0" algn="just">
              <a:buFont typeface="Wingdings" panose="05000000000000000000" charset="0"/>
              <a:buNone/>
            </a:pP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第一步：初次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</a:t>
            </a:r>
          </a:p>
          <a:p>
            <a:pPr indent="0" algn="just">
              <a:buFont typeface="Wingdings" panose="05000000000000000000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目的：去除偶联反应后残留的小分子杂质，如还原剂、溶剂和未反应的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drug-linker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。同时，它也用来更换缓冲液，为下一步色谱做准备。</a:t>
            </a:r>
          </a:p>
          <a:p>
            <a:pPr indent="0" algn="just">
              <a:buFont typeface="Wingdings" panose="05000000000000000000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局限：这一步无法去除抗体相关的杂质，比如聚体或不同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组分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第二步：色谱分离（核心步骤）</a:t>
            </a:r>
          </a:p>
          <a:p>
            <a:pPr indent="0" algn="just">
              <a:buFont typeface="Wingdings" panose="05000000000000000000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目的：这是精细纯化的关键。使用诸如疏水作用色谱（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）或尺寸排阻色谱（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）等技术。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可以根据疏水性的不同，分离出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DAR=0,DAR=2,DAR=4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等不同组分。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主要用来去除聚体。</a:t>
            </a:r>
          </a:p>
          <a:p>
            <a:pPr indent="0" algn="just">
              <a:buFont typeface="Wingdings" panose="05000000000000000000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局限：色谱法通常需要高浓度的盐（如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）或特殊的缓冲液来进行洗脱，这些条件对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可能并不友好，有时还会导致蛋白聚集。而且色谱填料昂贵，操作耗时，是成本的主要来源。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第三步：再次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TFF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</a:t>
            </a:r>
          </a:p>
          <a:p>
            <a:pPr indent="0" algn="just">
              <a:buFont typeface="Wingdings" panose="05000000000000000000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目的：将经过色谱纯化的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换入最终的稳定配方缓冲液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899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四、优化方案</a:t>
            </a:r>
            <a:endParaRPr lang="zh-CN" altLang="en-US" sz="2800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5040" y="1109980"/>
            <a:ext cx="9794240" cy="5435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电荷调控切向流过滤技术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(CM-TFF)</a:t>
            </a: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通过对膜表面进行电荷修饰（如引入阳离子基团），利用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电荷相互作用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增强分离能力，突破了传统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TFF“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仅靠分子量分离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的局限。</a:t>
            </a:r>
          </a:p>
          <a:p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去除小分子杂质（取代第一步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TFF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分离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DAR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组分和聚体（取代第二步色谱）</a:t>
            </a: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DAR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ADC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分子，其表面的电荷分布和等</a:t>
            </a: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电点是不同的。通过精确调控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pH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和电场，让不想要的组分因电场力的作用更容易穿过膜，或让最想要的组分在膜表面富集，从而实现分离。这相当于在过滤的同时进行了一次离子交换。</a:t>
            </a: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去除聚体：聚体不仅尺寸更大，其表面电荷特性也与单体不同。可以设定电场条件，主动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聚体，防止它们堵塞膜孔，并更有效地将它们从产品中清除出去。</a:t>
            </a: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最终配方缓冲液置换（取代第三步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TFF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当分离过程完成，达到了我们想要的纯度和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DAR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分布后，只需关闭电场，这个系统就变回一个标准的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TFF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装置。我们可以直接用它进行最后的缓冲液置换，将纯化好的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ADC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换入最终的配方缓冲液中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899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参考文献</a:t>
            </a:r>
            <a:endParaRPr lang="zh-CN" altLang="en-US" sz="2800" dirty="0">
              <a:solidFill>
                <a:srgbClr val="003F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5040" y="1109980"/>
            <a:ext cx="9794240" cy="5435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[1]  Matsuda Y. Current approaches for the purification of antibody-drug conjugates. J Sep Sci. 2022 Jan;45(1):27-37.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10.1002/jssc.202100575.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Epub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2021 Sep 16. PMID: 34473399.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[2]  Matsuda, Y.; Leung, M.;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Okuzumi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T.; Mendelsohn, B. A Purification Strategy Utilizing Hydrophobic Interaction Chromatography to Obtain Homogeneous Species from a Site-Specific Antibody Drug Conjugate Produced by AJICAP™ First Generation. Antibodies 2020, 9, 16. https://doi.org/10.3390/antib9020016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[3]  Gates TJ,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Lyu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YF, Fang X, Liao X. Clearance of solvents and small molecule impurities in antibody drug conjugates via ultrafiltration and diafiltration operation.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Biotechnol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Prog. 2020 Jan;36(1):e2923.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10.1002/btpr.2923.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Epub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2019 Oct 16. PMID: 31587515.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[4]  Matsuda Y,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Kliman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M, Mendelsohn BA. Application of Native Ion Exchange Mass Spectrometry to Intact and Subunit Analysis of Site-Specific Antibody-Drug Conjugates Produced by AJICAP First Generation Technology. J Am Soc Mass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Spectrom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2020 Jul 1.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10.1021/jasms.0c00129.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Epub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ahead of print. PMID: 32608232.</a:t>
            </a:r>
          </a:p>
          <a:p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3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948069" y="2921168"/>
            <a:ext cx="829586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恳请老师同学批评指正</a:t>
            </a:r>
            <a:endParaRPr lang="en-US" altLang="zh-CN" sz="60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44178" y="5387975"/>
            <a:ext cx="63036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查找资料，总结资料，汇报：吕启蒙</a:t>
            </a:r>
          </a:p>
          <a:p>
            <a:pPr algn="ctr"/>
            <a:r>
              <a:rPr lang="zh-CN" altLang="en-US" sz="2400" b="1" dirty="0"/>
              <a:t>制作</a:t>
            </a:r>
            <a:r>
              <a:rPr lang="en-US" altLang="zh-CN" sz="2400" b="1" dirty="0"/>
              <a:t>PPT</a:t>
            </a:r>
            <a:r>
              <a:rPr lang="zh-CN" altLang="en-US" sz="2400" b="1" dirty="0"/>
              <a:t>，答疑：马唐逸农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4.4851181102363,&quot;left&quot;:417.86669291338586,&quot;top&quot;:67.4920472440945,&quot;width&quot;:535.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3248</Words>
  <Application>Microsoft Office PowerPoint</Application>
  <PresentationFormat>宽屏</PresentationFormat>
  <Paragraphs>192</Paragraphs>
  <Slides>23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等线</vt:lpstr>
      <vt:lpstr>黑体</vt:lpstr>
      <vt:lpstr>宋体</vt:lpstr>
      <vt:lpstr>微软雅黑</vt:lpstr>
      <vt:lpstr>Arial</vt:lpstr>
      <vt:lpstr>Calibri</vt:lpstr>
      <vt:lpstr>Impact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</dc:creator>
  <cp:lastModifiedBy>启蒙 吕</cp:lastModifiedBy>
  <cp:revision>72</cp:revision>
  <dcterms:created xsi:type="dcterms:W3CDTF">2024-06-04T23:12:00Z</dcterms:created>
  <dcterms:modified xsi:type="dcterms:W3CDTF">2025-10-24T14:12:32Z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DF3AE3002D15404EBBB7400DA20D9227_12</vt:lpwstr>
  </property>
  <property fmtid="{D5CDD505-2E9C-101B-9397-08002B2CF9AE}" pid="3" name="KSOProductBuildVer">
    <vt:lpwstr>2052-12.1.0.19770</vt:lpwstr>
  </property>
</Properties>
</file>